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260">
                <a:solidFill>
                  <a:srgbClr val="6B6660"/>
                </a:solidFill>
                <a:latin typeface="Corbel"/>
              </a:rPr>
              <a:t>BCCE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5486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60">
                <a:solidFill>
                  <a:srgbClr val="1A1712"/>
                </a:solidFill>
                <a:latin typeface="Corbel"/>
              </a:rPr>
              <a:t>UNIVERSITY OF IOWA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932688"/>
            <a:ext cx="10362895" cy="0"/>
          </a:xfrm>
          <a:prstGeom prst="line">
            <a:avLst/>
          </a:prstGeom>
          <a:ln w="31750">
            <a:solidFill>
              <a:srgbClr val="FFCD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14400" y="2395728"/>
            <a:ext cx="54864" cy="1572768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286000"/>
            <a:ext cx="10424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1A1712"/>
                </a:solidFill>
                <a:latin typeface="Constantia"/>
              </a:rPr>
              <a:t>What chemistry faculty </a:t>
            </a:r>
            <a:r>
              <a:rPr sz="4600" b="0" i="1">
                <a:solidFill>
                  <a:srgbClr val="1A1712"/>
                </a:solidFill>
                <a:latin typeface="Constantia"/>
              </a:rPr>
              <a:t>believe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1A1712"/>
                </a:solidFill>
                <a:latin typeface="Constantia"/>
              </a:rPr>
              <a:t>about doctoral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069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660"/>
                </a:solidFill>
                <a:latin typeface="Constantia"/>
              </a:rPr>
              <a:t>A phenomenographic and thematic characterization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983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712"/>
                </a:solidFill>
                <a:latin typeface="Corbel"/>
              </a:rPr>
              <a:t>Zoe Rahimi Pirkoohi</a:t>
            </a:r>
            <a:r>
              <a:rPr sz="1650" b="0" i="0">
                <a:solidFill>
                  <a:srgbClr val="6B6660"/>
                </a:solidFill>
                <a:latin typeface="Corbel"/>
              </a:rPr>
              <a:t>    ·    Jordan Harshman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53583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6660"/>
                </a:solidFill>
                <a:latin typeface="Corbel"/>
              </a:rPr>
              <a:t>University of Iowa</a:t>
            </a:r>
          </a:p>
        </p:txBody>
      </p:sp>
      <p:pic>
        <p:nvPicPr>
          <p:cNvPr id="11" name="Picture 10" descr="speech_bubbles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4572000"/>
            <a:ext cx="3709297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7008" y="65105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299"/>
                </a:solidFill>
                <a:latin typeface="Corbel"/>
              </a:rPr>
              <a:t>Supported by NSF CAREER #2142873 &amp; #2602955  ·  Jordan Harshman, 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>
                <a:solidFill>
                  <a:srgbClr val="1A1712"/>
                </a:solidFill>
                <a:latin typeface="Constantia"/>
              </a:rPr>
              <a:t>Doctoral education produces the chemists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300" b="0" i="0">
                <a:solidFill>
                  <a:srgbClr val="1A1712"/>
                </a:solidFill>
                <a:latin typeface="Constantia"/>
              </a:rPr>
              <a:t>who staff the discipline.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31799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1A1712"/>
                </a:solidFill>
                <a:latin typeface="Constantia"/>
              </a:rPr>
              <a:t>~2,900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13632"/>
            <a:ext cx="31799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chemistry PhDs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awarded each year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31538" y="3063240"/>
            <a:ext cx="0" cy="1371600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368698" y="3063240"/>
            <a:ext cx="31799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1A1712"/>
                </a:solidFill>
                <a:latin typeface="Constantia"/>
              </a:rPr>
              <a:t>~196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8698" y="3913632"/>
            <a:ext cx="31799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U.S. doctoral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programs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85836" y="3063240"/>
            <a:ext cx="0" cy="1371600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822996" y="3063240"/>
            <a:ext cx="31799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1A1712"/>
                </a:solidFill>
                <a:latin typeface="Constantia"/>
              </a:rPr>
              <a:t>decades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22996" y="3913632"/>
            <a:ext cx="31799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one structure,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60"/>
                </a:solidFill>
                <a:latin typeface="Corbel"/>
              </a:rPr>
              <a:t>largely unchanged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6660"/>
                </a:solidFill>
                <a:latin typeface="Constantia"/>
              </a:rPr>
              <a:t>The same record documents its strains — competing responsibilities, no standard assessment of outcomes, uneven implementation, inconsistent mentorship.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A8A299"/>
                </a:solidFill>
                <a:latin typeface="Corbel"/>
              </a:rPr>
              <a:t>Donkor &amp; Harshman, 2023  ·  Collini et al., 2025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We know what faculty believe about </a:t>
            </a:r>
            <a:r>
              <a:rPr sz="2900" b="0" i="1">
                <a:solidFill>
                  <a:srgbClr val="6B6660"/>
                </a:solidFill>
                <a:latin typeface="Constantia"/>
              </a:rPr>
              <a:t>teaching a class.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We don’t know what they believe about </a:t>
            </a:r>
            <a:r>
              <a:rPr sz="2900" b="0" i="0">
                <a:solidFill>
                  <a:srgbClr val="DA3769"/>
                </a:solidFill>
                <a:latin typeface="Constantia"/>
              </a:rPr>
              <a:t>advising a PhD.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" y="3200400"/>
            <a:ext cx="0" cy="1828800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3200400"/>
            <a:ext cx="48156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1A1712"/>
                </a:solidFill>
                <a:latin typeface="Corbel"/>
              </a:rPr>
              <a:t>Classroom teaching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Beliefs are well characterized — and predict what happens in the classroom.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1">
                <a:solidFill>
                  <a:srgbClr val="A8A299"/>
                </a:solidFill>
                <a:latin typeface="Corbel"/>
              </a:rPr>
              <a:t>Gibbons · Lund &amp; Stains · Popova · Mack &amp; Towns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61607" y="3200400"/>
            <a:ext cx="48156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 i="0">
                <a:solidFill>
                  <a:srgbClr val="1A1712"/>
                </a:solidFill>
                <a:latin typeface="Corbel"/>
              </a:rPr>
              <a:t>Research advising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A different practice — and beliefs are tied to the practice they concern. Never characterized.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1">
                <a:solidFill>
                  <a:srgbClr val="A8A299"/>
                </a:solidFill>
                <a:latin typeface="Corbel"/>
              </a:rPr>
              <a:t>Kagan, 1992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712"/>
                </a:solidFill>
                <a:latin typeface="Constantia"/>
              </a:rPr>
              <a:t>Donkor et al. (2024) set faculty beliefs aside — a proper investigation </a:t>
            </a:r>
            <a:r>
              <a:rPr sz="1500" b="0" i="1">
                <a:solidFill>
                  <a:srgbClr val="6B6660"/>
                </a:solidFill>
                <a:latin typeface="Constantia"/>
              </a:rPr>
              <a:t>“warranted its own study.”</a:t>
            </a:r>
            <a:r>
              <a:rPr sz="1500" b="1" i="0">
                <a:solidFill>
                  <a:srgbClr val="DA3769"/>
                </a:solidFill>
                <a:latin typeface="Constantia"/>
              </a:rPr>
              <a:t>  This is that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914400" y="1572768"/>
            <a:ext cx="566928" cy="0"/>
          </a:xfrm>
          <a:prstGeom prst="line">
            <a:avLst/>
          </a:prstGeom>
          <a:ln w="31750">
            <a:solidFill>
              <a:srgbClr val="F562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1783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9875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A1712"/>
                </a:solidFill>
                <a:latin typeface="Constantia"/>
              </a:rPr>
              <a:t>What do chemistry faculty </a:t>
            </a:r>
            <a:r>
              <a:rPr sz="4000" b="0" i="1">
                <a:solidFill>
                  <a:srgbClr val="1A1712"/>
                </a:solidFill>
                <a:latin typeface="Constantia"/>
              </a:rPr>
              <a:t>believe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A1712"/>
                </a:solidFill>
                <a:latin typeface="Constantia"/>
              </a:rPr>
              <a:t>about doctoral education?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B6660"/>
                </a:solidFill>
                <a:latin typeface="Corbel"/>
              </a:rPr>
              <a:t>what it’s for   ·   how students learn   ·   who develops which skill   ·   the structure they work 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WHY BELIEFS MATTER · TEACHER-CENTERED SYSTEMIC REFORM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1A1712"/>
                </a:solidFill>
                <a:latin typeface="Constantia"/>
              </a:rPr>
              <a:t>Reforms change the structures of schooling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1A1712"/>
                </a:solidFill>
                <a:latin typeface="Constantia"/>
              </a:rPr>
              <a:t>without changing what happens inside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23621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general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context of reform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13683" y="3246120"/>
            <a:ext cx="0" cy="1051559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505123" y="3291840"/>
            <a:ext cx="23621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the teacher’s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personal profile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04407" y="3246120"/>
            <a:ext cx="0" cy="1051559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95847" y="3291840"/>
            <a:ext cx="23621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structural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A1712"/>
                </a:solidFill>
                <a:latin typeface="Corbel"/>
              </a:rPr>
              <a:t>cultural context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595131" y="3246120"/>
            <a:ext cx="0" cy="1051559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86571" y="3291840"/>
            <a:ext cx="23621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A3769"/>
                </a:solidFill>
                <a:latin typeface="Corbel"/>
              </a:rPr>
              <a:t>teacher thinking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A3769"/>
                </a:solidFill>
                <a:latin typeface="Corbel"/>
              </a:rPr>
              <a:t>→ beliefs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6660"/>
                </a:solidFill>
                <a:latin typeface="Corbel"/>
              </a:rPr>
              <a:t>All four shape whether a reform reaches </a:t>
            </a:r>
            <a:r>
              <a:rPr sz="1400" b="0" i="1">
                <a:solidFill>
                  <a:srgbClr val="1A1712"/>
                </a:solidFill>
                <a:latin typeface="Constantia"/>
              </a:rPr>
              <a:t>practice</a:t>
            </a:r>
            <a:r>
              <a:rPr sz="1400" b="0" i="0">
                <a:solidFill>
                  <a:srgbClr val="6B6660"/>
                </a:solidFill>
                <a:latin typeface="Corbel"/>
              </a:rPr>
              <a:t> — the model’s ultimate test.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5166360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53492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712"/>
                </a:solidFill>
                <a:latin typeface="Constantia"/>
              </a:rPr>
              <a:t>Beliefs are self-perpetuating — they can </a:t>
            </a:r>
            <a:r>
              <a:rPr sz="2100" b="0" i="1">
                <a:solidFill>
                  <a:srgbClr val="DA3769"/>
                </a:solidFill>
                <a:latin typeface="Constantia"/>
              </a:rPr>
              <a:t>absorb a reform without yielding to it.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WHAT COUNTS AS A BELIEF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712"/>
                </a:solidFill>
                <a:latin typeface="Constantia"/>
              </a:rPr>
              <a:t>A </a:t>
            </a:r>
            <a:r>
              <a:rPr sz="2500" b="0" i="0">
                <a:solidFill>
                  <a:srgbClr val="DA3769"/>
                </a:solidFill>
                <a:latin typeface="Constantia"/>
              </a:rPr>
              <a:t>proposition a person holds true</a:t>
            </a:r>
            <a:r>
              <a:rPr sz="2500" b="0" i="0">
                <a:solidFill>
                  <a:srgbClr val="1A1712"/>
                </a:solidFill>
                <a:latin typeface="Constantia"/>
              </a:rPr>
              <a:t> and uses to interpret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712"/>
                </a:solidFill>
                <a:latin typeface="Constantia"/>
              </a:rPr>
              <a:t>experience and guide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A8A299"/>
                </a:solidFill>
                <a:latin typeface="Corbel"/>
              </a:rPr>
              <a:t>Rokeach, 1968 · Green, 1971 · Nespor, 1987 · Pajares, 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B6660"/>
                </a:solidFill>
                <a:latin typeface="Corbel"/>
              </a:rPr>
              <a:t>A unit of talk counts as a belief only when it is all four: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628C"/>
                </a:solidFill>
                <a:latin typeface="Constant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712"/>
                </a:solidFill>
                <a:latin typeface="Corbel"/>
              </a:rPr>
              <a:t>Propositional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4747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a proposition the person holds to be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873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628C"/>
                </a:solidFill>
                <a:latin typeface="Constant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114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712"/>
                </a:solidFill>
                <a:latin typeface="Corbel"/>
              </a:rPr>
              <a:t>Evaluative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413308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it guides how they interpret experience and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4573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628C"/>
                </a:solidFill>
                <a:latin typeface="Constant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731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712"/>
                </a:solidFill>
                <a:latin typeface="Corbel"/>
              </a:rPr>
              <a:t>Personal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791455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a personal stance, not a claim needing group consensus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0410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628C"/>
                </a:solidFill>
                <a:latin typeface="Constant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712"/>
                </a:solidFill>
                <a:latin typeface="Corbel"/>
              </a:rPr>
              <a:t>Resistant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5449823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it holds up against their own counter-evidence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712"/>
                </a:solidFill>
                <a:latin typeface="Constantia"/>
              </a:rPr>
              <a:t>An interpretive design built to capture the </a:t>
            </a:r>
            <a:r>
              <a:rPr sz="2600" b="0" i="1">
                <a:solidFill>
                  <a:srgbClr val="DA3769"/>
                </a:solidFill>
                <a:latin typeface="Constantia"/>
              </a:rPr>
              <a:t>range</a:t>
            </a:r>
            <a:r>
              <a:rPr sz="2600" b="0" i="0">
                <a:solidFill>
                  <a:srgbClr val="1A1712"/>
                </a:solidFill>
                <a:latin typeface="Constantia"/>
              </a:rPr>
              <a:t> of faculty belief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Twenty faculty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79191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6660"/>
                </a:solidFill>
                <a:latin typeface="Constantia"/>
              </a:rPr>
              <a:t>across U.S. doctoral programs — research-active, currently advising a PhD student.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Interviews + a card sort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93591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6660"/>
                </a:solidFill>
                <a:latin typeface="Constantia"/>
              </a:rPr>
              <a:t>~60-minute semi-structured interviews (a modified Teacher Beliefs Interview); the sort as a second elicitation.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Phenomenography + thematic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6660"/>
                </a:solidFill>
                <a:latin typeface="Constantia"/>
              </a:rPr>
              <a:t>the range of ways faculty understand doctoral education, with keyness — not frequency — as the reporting rule.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5212080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539496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712"/>
                </a:solidFill>
                <a:latin typeface="Constantia"/>
              </a:rPr>
              <a:t>990 </a:t>
            </a:r>
            <a:r>
              <a:rPr sz="1500" b="0" i="0">
                <a:solidFill>
                  <a:srgbClr val="6B6660"/>
                </a:solidFill>
                <a:latin typeface="Corbel"/>
              </a:rPr>
              <a:t>sub-codes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53949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5628C"/>
                </a:solidFill>
                <a:latin typeface="Corbe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539496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712"/>
                </a:solidFill>
                <a:latin typeface="Constantia"/>
              </a:rPr>
              <a:t>15 </a:t>
            </a:r>
            <a:r>
              <a:rPr sz="1500" b="0" i="0">
                <a:solidFill>
                  <a:srgbClr val="6B6660"/>
                </a:solidFill>
                <a:latin typeface="Corbel"/>
              </a:rPr>
              <a:t>codes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53949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5628C"/>
                </a:solidFill>
                <a:latin typeface="Corbe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39496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712"/>
                </a:solidFill>
                <a:latin typeface="Constantia"/>
              </a:rPr>
              <a:t>4 </a:t>
            </a:r>
            <a:r>
              <a:rPr sz="1500" b="0" i="0">
                <a:solidFill>
                  <a:srgbClr val="6B6660"/>
                </a:solidFill>
                <a:latin typeface="Corbel"/>
              </a:rPr>
              <a:t>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53949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60"/>
                </a:solidFill>
                <a:latin typeface="Constantia"/>
              </a:rPr>
              <a:t>no new codes after interview 7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 SAMPLE · N =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712"/>
                </a:solidFill>
                <a:latin typeface="Constantia"/>
              </a:rPr>
              <a:t>Recruited for </a:t>
            </a:r>
            <a:r>
              <a:rPr sz="2600" b="0" i="1">
                <a:solidFill>
                  <a:srgbClr val="DA3769"/>
                </a:solidFill>
                <a:latin typeface="Constantia"/>
              </a:rPr>
              <a:t>maximum variation</a:t>
            </a:r>
            <a:r>
              <a:rPr sz="2600" b="0" i="0">
                <a:solidFill>
                  <a:srgbClr val="1A1712"/>
                </a:solidFill>
                <a:latin typeface="Constantia"/>
              </a:rPr>
              <a:t> across profile and subfield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rbel"/>
              </a:rPr>
              <a:t>Gender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2286000"/>
            <a:ext cx="4572000" cy="237744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46120" y="2286000"/>
            <a:ext cx="2971800" cy="237744"/>
          </a:xfrm>
          <a:prstGeom prst="rect">
            <a:avLst/>
          </a:prstGeom>
          <a:solidFill>
            <a:srgbClr val="1A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2311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60"/>
                </a:solidFill>
                <a:latin typeface="Corbel"/>
              </a:rPr>
              <a:t>13 men · 7 women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523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rbel"/>
              </a:rPr>
              <a:t>Race / ethnicity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2798064"/>
            <a:ext cx="4572000" cy="237744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2798064"/>
            <a:ext cx="2971800" cy="237744"/>
          </a:xfrm>
          <a:prstGeom prst="rect">
            <a:avLst/>
          </a:prstGeom>
          <a:solidFill>
            <a:srgbClr val="1A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432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60"/>
                </a:solidFill>
                <a:latin typeface="Corbel"/>
              </a:rPr>
              <a:t>13 White · 7 non-White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6440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rbel"/>
              </a:rPr>
              <a:t>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3310128"/>
            <a:ext cx="4572000" cy="237744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3310128"/>
            <a:ext cx="3429000" cy="237744"/>
          </a:xfrm>
          <a:prstGeom prst="rect">
            <a:avLst/>
          </a:prstGeom>
          <a:solidFill>
            <a:srgbClr val="1A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25526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60"/>
                </a:solidFill>
                <a:latin typeface="Corbel"/>
              </a:rPr>
              <a:t>15 full professors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7647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rbel"/>
              </a:rPr>
              <a:t>Institution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822191"/>
            <a:ext cx="4572000" cy="237744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46120" y="3822191"/>
            <a:ext cx="3200400" cy="237744"/>
          </a:xfrm>
          <a:prstGeom prst="rect">
            <a:avLst/>
          </a:prstGeom>
          <a:solidFill>
            <a:srgbClr val="1A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76732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60"/>
                </a:solidFill>
                <a:latin typeface="Corbel"/>
              </a:rPr>
              <a:t>14 at R1 institutions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8853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rbel"/>
              </a:rPr>
              <a:t>Doctoral training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4334256"/>
            <a:ext cx="4572000" cy="237744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46120" y="4334256"/>
            <a:ext cx="4114800" cy="237744"/>
          </a:xfrm>
          <a:prstGeom prst="rect">
            <a:avLst/>
          </a:prstGeom>
          <a:solidFill>
            <a:srgbClr val="1A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42793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60"/>
                </a:solidFill>
                <a:latin typeface="Corbel"/>
              </a:rPr>
              <a:t>18 trained in the U.S.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180">
                <a:solidFill>
                  <a:srgbClr val="6B6660"/>
                </a:solidFill>
                <a:latin typeface="Corbel"/>
              </a:rPr>
              <a:t>SUBDISCIPLINES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9496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712"/>
                </a:solidFill>
                <a:latin typeface="Constantia"/>
              </a:rPr>
              <a:t>Inorganic (5)  ·  Chemistry education (2)  ·  Materials (2)  ·  Physical (2)  ·  Biophysical (2)  ·  Organic (2)  ·  + five singletons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A8A299"/>
                </a:solidFill>
                <a:latin typeface="Corbel"/>
              </a:rPr>
              <a:t>Analytical generalization and transferability, not population estimates; the sample skews senior and male — see limitations.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34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280">
                <a:solidFill>
                  <a:srgbClr val="9A948B"/>
                </a:solidFill>
                <a:latin typeface="Corbel"/>
              </a:rPr>
              <a:t>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Constantia"/>
              </a:rPr>
              <a:t>Faculty </a:t>
            </a:r>
            <a:r>
              <a:rPr sz="4000" b="0" i="1">
                <a:solidFill>
                  <a:srgbClr val="FFCD00"/>
                </a:solidFill>
                <a:latin typeface="Constantia"/>
              </a:rPr>
              <a:t>agree</a:t>
            </a:r>
            <a:r>
              <a:rPr sz="4000" b="0" i="0">
                <a:solidFill>
                  <a:srgbClr val="FFFFFF"/>
                </a:solidFill>
                <a:latin typeface="Constantia"/>
              </a:rPr>
              <a:t> on the propositions.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Constantia"/>
              </a:rPr>
              <a:t>They </a:t>
            </a:r>
            <a:r>
              <a:rPr sz="4000" b="0" i="1">
                <a:solidFill>
                  <a:srgbClr val="F5628C"/>
                </a:solidFill>
                <a:latin typeface="Constantia"/>
              </a:rPr>
              <a:t>divide</a:t>
            </a:r>
            <a:r>
              <a:rPr sz="4000" b="0" i="0">
                <a:solidFill>
                  <a:srgbClr val="FFFFFF"/>
                </a:solidFill>
                <a:latin typeface="Constantia"/>
              </a:rPr>
              <a:t> on where the boundaries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C9C3B9"/>
                </a:solidFill>
                <a:latin typeface="Constantia"/>
              </a:rPr>
              <a:t>“What differs is not which beliefs faculty hold, but where they draw the lines those beliefs require.”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THEME 1 / 4    ·    WHAT THE DOCTORATE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The doctorate develops a </a:t>
            </a:r>
            <a:r>
              <a:rPr sz="2900" b="0" i="0">
                <a:solidFill>
                  <a:srgbClr val="DA3769"/>
                </a:solidFill>
                <a:latin typeface="Constantia"/>
              </a:rPr>
              <a:t>self-directed scientist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in service of the student’s own goals.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41148" cy="1143000"/>
          </a:xfrm>
          <a:prstGeom prst="rect">
            <a:avLst/>
          </a:prstGeom>
          <a:solidFill>
            <a:srgbClr val="F56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A1712"/>
                </a:solidFill>
                <a:latin typeface="Constantia"/>
              </a:rPr>
              <a:t>When they start bringing ideas forward without necessarily being prompted.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77639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712"/>
                </a:solidFill>
                <a:latin typeface="Corbel"/>
              </a:rPr>
              <a:t>— P2</a:t>
            </a:r>
            <a:r>
              <a:rPr sz="1300" b="0" i="0">
                <a:solidFill>
                  <a:srgbClr val="6B6660"/>
                </a:solidFill>
                <a:latin typeface="Corbel"/>
              </a:rPr>
              <a:t>, on what independence looks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WHERE THEY DIVIDE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5257800"/>
            <a:ext cx="9692640" cy="0"/>
          </a:xfrm>
          <a:prstGeom prst="line">
            <a:avLst/>
          </a:prstGeom>
          <a:ln w="22225">
            <a:solidFill>
              <a:srgbClr val="F5628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answering existing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7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asking new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332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6660"/>
                </a:solidFill>
                <a:latin typeface="Corbel"/>
              </a:rPr>
              <a:t>The realistic goal versus the higher bar for the degree.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5332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A8A299"/>
                </a:solidFill>
                <a:latin typeface="Corbel"/>
              </a:rPr>
              <a:t>IC · UN · SG · FE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THEME 2 / 4    ·    HOW STUDENTS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Students learn by doing </a:t>
            </a:r>
            <a:r>
              <a:rPr sz="2900" b="0" i="0">
                <a:solidFill>
                  <a:srgbClr val="DA3769"/>
                </a:solidFill>
                <a:latin typeface="Constantia"/>
              </a:rPr>
              <a:t>scaffolded research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— and learning shows in performance, not grades.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41148" cy="1143000"/>
          </a:xfrm>
          <a:prstGeom prst="rect">
            <a:avLst/>
          </a:prstGeom>
          <a:solidFill>
            <a:srgbClr val="F56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A1712"/>
                </a:solidFill>
                <a:latin typeface="Constantia"/>
              </a:rPr>
              <a:t>I do. We do. You do — spread out over X number of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77639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712"/>
                </a:solidFill>
                <a:latin typeface="Corbel"/>
              </a:rPr>
              <a:t>— P5</a:t>
            </a:r>
            <a:r>
              <a:rPr sz="1300" b="0" i="0">
                <a:solidFill>
                  <a:srgbClr val="6B6660"/>
                </a:solidFill>
                <a:latin typeface="Corbel"/>
              </a:rPr>
              <a:t>, on how research is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WHERE THEY DIVIDE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5257800"/>
            <a:ext cx="9692640" cy="0"/>
          </a:xfrm>
          <a:prstGeom prst="line">
            <a:avLst/>
          </a:prstGeom>
          <a:ln w="22225">
            <a:solidFill>
              <a:srgbClr val="F5628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unsupported struggle helps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7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struggle should be scaffolded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332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6660"/>
                </a:solidFill>
                <a:latin typeface="Corbel"/>
              </a:rPr>
              <a:t>Same formative deprivation, opposite lessons — P13 vs. P7.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5332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A8A299"/>
                </a:solidFill>
                <a:latin typeface="Corbel"/>
              </a:rPr>
              <a:t>LE · LO · AV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THEME 3 / 4    ·    WHO DEVELOPS WHICH SKILL — THE LARGEST 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Development is a </a:t>
            </a:r>
            <a:r>
              <a:rPr sz="2900" b="0" i="0">
                <a:solidFill>
                  <a:srgbClr val="DA3769"/>
                </a:solidFill>
                <a:latin typeface="Constantia"/>
              </a:rPr>
              <a:t>shared responsibility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in a two-way relationship — and who develops which skill varies.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41148" cy="1143000"/>
          </a:xfrm>
          <a:prstGeom prst="rect">
            <a:avLst/>
          </a:prstGeom>
          <a:solidFill>
            <a:srgbClr val="F56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A1712"/>
                </a:solidFill>
                <a:latin typeface="Constantia"/>
              </a:rPr>
              <a:t>I go from the leader to the follower, and they start as the follower and end up as the leader.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77639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712"/>
                </a:solidFill>
                <a:latin typeface="Corbel"/>
              </a:rPr>
              <a:t>— P6</a:t>
            </a:r>
            <a:r>
              <a:rPr sz="1300" b="0" i="0">
                <a:solidFill>
                  <a:srgbClr val="6B6660"/>
                </a:solidFill>
                <a:latin typeface="Corbel"/>
              </a:rPr>
              <a:t>, on how responsibility transfers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WHERE THEY DIVIDE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5257800"/>
            <a:ext cx="9692640" cy="0"/>
          </a:xfrm>
          <a:prstGeom prst="line">
            <a:avLst/>
          </a:prstGeom>
          <a:ln w="22225">
            <a:solidFill>
              <a:srgbClr val="F5628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faculty’s to teach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7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student’s to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332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6660"/>
                </a:solidFill>
                <a:latin typeface="Corbel"/>
              </a:rPr>
              <a:t>The same skill — creativity — is one faculty’s to teach (P5, P17), another’s for the student (P9, P11).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5332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A8A299"/>
                </a:solidFill>
                <a:latin typeface="Corbel"/>
              </a:rPr>
              <a:t>MB · FA · OE · RS · SD · MP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THEME 4 / 4    ·    THE STRUCTURAL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Structure shapes advising — and the </a:t>
            </a:r>
            <a:r>
              <a:rPr sz="2900" b="0" i="0">
                <a:solidFill>
                  <a:srgbClr val="DA3769"/>
                </a:solidFill>
                <a:latin typeface="Constantia"/>
              </a:rPr>
              <a:t>gaps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1A1712"/>
                </a:solidFill>
                <a:latin typeface="Constantia"/>
              </a:rPr>
              <a:t>it leaves are the program’s to fix, not the student’s.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41148" cy="1143000"/>
          </a:xfrm>
          <a:prstGeom prst="rect">
            <a:avLst/>
          </a:prstGeom>
          <a:solidFill>
            <a:srgbClr val="F56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966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1A1712"/>
                </a:solidFill>
                <a:latin typeface="Constantia"/>
              </a:rPr>
              <a:t>Those professional skills often get kind of forgotten.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77639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712"/>
                </a:solidFill>
                <a:latin typeface="Corbel"/>
              </a:rPr>
              <a:t>— P2</a:t>
            </a:r>
            <a:r>
              <a:rPr sz="1300" b="0" i="0">
                <a:solidFill>
                  <a:srgbClr val="6B6660"/>
                </a:solidFill>
                <a:latin typeface="Corbel"/>
              </a:rPr>
              <a:t>, on the program’s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WHERE THEY DIVIDE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5257800"/>
            <a:ext cx="9692640" cy="0"/>
          </a:xfrm>
          <a:prstGeom prst="line">
            <a:avLst/>
          </a:prstGeom>
          <a:ln w="22225">
            <a:solidFill>
              <a:srgbClr val="F5628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the evolved system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7" y="5349240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712"/>
                </a:solidFill>
                <a:latin typeface="Corbel"/>
              </a:rPr>
              <a:t>curricula &amp; funding need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3328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6660"/>
                </a:solidFill>
                <a:latin typeface="Corbel"/>
              </a:rPr>
              <a:t>How much of the structure deserves changing — P14 vs. P18.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5332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A8A299"/>
                </a:solidFill>
                <a:latin typeface="Corbel"/>
              </a:rPr>
              <a:t>PS · GA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undary_map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0080"/>
            <a:ext cx="5223787" cy="5806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37960" y="10515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THE FULL OUTCOME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55448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A1712"/>
                </a:solidFill>
                <a:latin typeface="Constantia"/>
              </a:rPr>
              <a:t>Four shared themes.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A1712"/>
                </a:solidFill>
                <a:latin typeface="Constantia"/>
              </a:rPr>
              <a:t>Fifteen codes.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A1712"/>
                </a:solidFill>
                <a:latin typeface="Constantia"/>
              </a:rPr>
              <a:t>An </a:t>
            </a:r>
            <a:r>
              <a:rPr sz="2700" b="0" i="1">
                <a:solidFill>
                  <a:srgbClr val="DA3769"/>
                </a:solidFill>
                <a:latin typeface="Constantia"/>
              </a:rPr>
              <a:t>axis of division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A1712"/>
                </a:solidFill>
                <a:latin typeface="Constantia"/>
              </a:rPr>
              <a:t>in every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4160520"/>
            <a:ext cx="49377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6660"/>
                </a:solidFill>
                <a:latin typeface="Constantia"/>
              </a:rPr>
              <a:t>The agreement is real — and so is the disagreement one level down. Every faculty member lands somewhere on each axis.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WHAT THIS ADDS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A1712"/>
                </a:solidFill>
                <a:latin typeface="Constantia"/>
              </a:rPr>
              <a:t>A </a:t>
            </a:r>
            <a:r>
              <a:rPr sz="2700" b="0" i="0">
                <a:solidFill>
                  <a:srgbClr val="DA3769"/>
                </a:solidFill>
                <a:latin typeface="Constantia"/>
              </a:rPr>
              <a:t>belief baseline</a:t>
            </a:r>
            <a:r>
              <a:rPr sz="2700" b="0" i="0">
                <a:solidFill>
                  <a:srgbClr val="1A1712"/>
                </a:solidFill>
                <a:latin typeface="Constantia"/>
              </a:rPr>
              <a:t> for changing doctoral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628C"/>
                </a:solidFill>
                <a:latin typeface="Constant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957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Content for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779776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B6660"/>
                </a:solidFill>
                <a:latin typeface="Constantia"/>
              </a:rPr>
              <a:t>Gives the Teacher-Centered Systemic Reform model the doctoral-education content it lacked — the shared ground a reform can assume, and the fault lines it must engage.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628C"/>
                </a:solidFill>
                <a:latin typeface="Constant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301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Nests with prior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014216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B6660"/>
                </a:solidFill>
                <a:latin typeface="Constantia"/>
              </a:rPr>
              <a:t>The goals record and the challenge record now sit beside what faculty believe. Three answers to one enterprise — they nest, not compete.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5628C"/>
                </a:solidFill>
                <a:latin typeface="Constant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8646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712"/>
                </a:solidFill>
                <a:latin typeface="Corbel"/>
              </a:rPr>
              <a:t>Conviction vs. practice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248656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B6660"/>
                </a:solidFill>
                <a:latin typeface="Constantia"/>
              </a:rPr>
              <a:t>Thirteen of twenty hold stable convictions but refine implementation with experience — so supports aimed at implementation may fit faculty best.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455664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651967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A8A299"/>
                </a:solidFill>
                <a:latin typeface="Constantia"/>
              </a:rPr>
              <a:t>What chemistry faculty believe about doctoral 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93247" y="6556248"/>
            <a:ext cx="73152" cy="73152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02975" y="65013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A299"/>
                </a:solidFill>
                <a:latin typeface="Corbe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200">
                <a:solidFill>
                  <a:srgbClr val="6B6660"/>
                </a:solidFill>
                <a:latin typeface="Corbel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A1712"/>
                </a:solidFill>
                <a:latin typeface="Constantia"/>
              </a:rPr>
              <a:t>Two levels, two lessons.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5847" y="2286000"/>
            <a:ext cx="0" cy="1737360"/>
          </a:xfrm>
          <a:prstGeom prst="line">
            <a:avLst/>
          </a:prstGeom>
          <a:ln w="12700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286000"/>
            <a:ext cx="48156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 spc="160">
                <a:solidFill>
                  <a:srgbClr val="6B6660"/>
                </a:solidFill>
                <a:latin typeface="Corbel"/>
              </a:rPr>
              <a:t>SHARED PROPOSITIONS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A1712"/>
                </a:solidFill>
                <a:latin typeface="Constantia"/>
              </a:rPr>
              <a:t>Common ground a reform can take as given — arguing from where faculty already stand.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61607" y="2286000"/>
            <a:ext cx="48156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 spc="160">
                <a:solidFill>
                  <a:srgbClr val="6B6660"/>
                </a:solidFill>
                <a:latin typeface="Corbel"/>
              </a:rPr>
              <a:t>BOUNDARY DISAGREEMENTS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A1712"/>
                </a:solidFill>
                <a:latin typeface="Constantia"/>
              </a:rPr>
              <a:t>The harder, more useful target — where colleagues who sound aligned </a:t>
            </a:r>
            <a:r>
              <a:rPr sz="1650" b="0" i="1">
                <a:solidFill>
                  <a:srgbClr val="DA3769"/>
                </a:solidFill>
                <a:latin typeface="Constantia"/>
              </a:rPr>
              <a:t>quietly diverge.</a:t>
            </a:r>
            <a:r>
              <a:rPr sz="1650" b="0" i="0">
                <a:solidFill>
                  <a:srgbClr val="1A1712"/>
                </a:solidFill>
                <a:latin typeface="Constantia"/>
              </a:rPr>
              <a:t> Surface them; don’t assume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526280"/>
            <a:ext cx="10362895" cy="0"/>
          </a:xfrm>
          <a:prstGeom prst="line">
            <a:avLst/>
          </a:prstGeom>
          <a:ln w="9525">
            <a:solidFill>
              <a:srgbClr val="E4E0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914400" y="4892040"/>
            <a:ext cx="54864" cy="777240"/>
          </a:xfrm>
          <a:prstGeom prst="rect">
            <a:avLst/>
          </a:prstGeom>
          <a:solidFill>
            <a:srgbClr val="FFC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89204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1A1712"/>
                </a:solidFill>
                <a:latin typeface="Constantia"/>
              </a:rPr>
              <a:t>Thank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80644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6660"/>
                </a:solidFill>
                <a:latin typeface="Corbel"/>
              </a:rPr>
              <a:t>Zoe Rahimi Pirkoohi  ·  Jordan Harshman  ·  University of Iowa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617220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A299"/>
                </a:solidFill>
                <a:latin typeface="Corbel"/>
              </a:rPr>
              <a:t>Supported by NSF CAREER #2142873 &amp; #2602955  ·  Jordan Harshman,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