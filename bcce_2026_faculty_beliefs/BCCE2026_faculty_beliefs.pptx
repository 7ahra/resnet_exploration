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56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1714500"/>
          </a:xfrm>
          <a:prstGeom prst="rect">
            <a:avLst/>
          </a:prstGeom>
          <a:solidFill>
            <a:srgbClr val="456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714500"/>
            <a:ext cx="256032" cy="1714500"/>
          </a:xfrm>
          <a:prstGeom prst="rect">
            <a:avLst/>
          </a:prstGeom>
          <a:solidFill>
            <a:srgbClr val="A37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256032" cy="1714500"/>
          </a:xfrm>
          <a:prstGeom prst="rect">
            <a:avLst/>
          </a:prstGeom>
          <a:solidFill>
            <a:srgbClr val="5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143500"/>
            <a:ext cx="256032" cy="1714500"/>
          </a:xfrm>
          <a:prstGeom prst="rect">
            <a:avLst/>
          </a:prstGeom>
          <a:solidFill>
            <a:srgbClr val="9D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583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240">
                <a:solidFill>
                  <a:srgbClr val="456A73"/>
                </a:solidFill>
                <a:latin typeface="Calibri"/>
              </a:rPr>
              <a:t>BCCE 2026</a:t>
            </a:r>
            <a:r>
              <a:rPr sz="1300" b="1" i="0" spc="240">
                <a:solidFill>
                  <a:srgbClr val="74726A"/>
                </a:solidFill>
                <a:latin typeface="Calibri"/>
              </a:rPr>
              <a:t>   ·   CHEMISTRY EDUCATION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417320"/>
            <a:ext cx="106070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5200" b="0" i="0">
                <a:solidFill>
                  <a:srgbClr val="242928"/>
                </a:solidFill>
                <a:latin typeface="Georgia"/>
              </a:rPr>
              <a:t>What chemistry faculty believe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5200" b="0" i="0">
                <a:solidFill>
                  <a:srgbClr val="242928"/>
                </a:solidFill>
                <a:latin typeface="Georgia"/>
              </a:rPr>
              <a:t>about doctoral education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1">
                <a:solidFill>
                  <a:srgbClr val="456A73"/>
                </a:solidFill>
                <a:latin typeface="Georgia"/>
              </a:rPr>
              <a:t>A phenomenographic and thematic characterization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77639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42928"/>
                </a:solidFill>
                <a:latin typeface="Calibri"/>
              </a:rPr>
              <a:t>Zoe Rahimi Pirkoohi</a:t>
            </a:r>
            <a:r>
              <a:rPr sz="1800" b="0" i="0">
                <a:solidFill>
                  <a:srgbClr val="242928"/>
                </a:solidFill>
                <a:latin typeface="Calibri"/>
              </a:rPr>
              <a:t>      Jordan Harshman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074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74726A"/>
                </a:solidFill>
                <a:latin typeface="Calibri"/>
              </a:rPr>
              <a:t>University of Iowa</a:t>
            </a:r>
          </a:p>
        </p:txBody>
      </p:sp>
      <p:pic>
        <p:nvPicPr>
          <p:cNvPr id="13" name="Picture 12" descr="speech_bubbles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4160520"/>
            <a:ext cx="5087895" cy="2468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" y="6455664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B6B2A7"/>
                </a:solidFill>
                <a:latin typeface="Calibri"/>
              </a:rPr>
              <a:t>NSF CAREER #2142873 &amp; #2602955  ·  Jordan Harshman, 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220">
                <a:solidFill>
                  <a:srgbClr val="456A73"/>
                </a:solidFill>
                <a:latin typeface="Calibri"/>
              </a:rPr>
              <a:t>THE ENTERPRISE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242928"/>
                </a:solidFill>
                <a:latin typeface="Georgia"/>
              </a:rPr>
              <a:t>Doctoral education produces the chemists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242928"/>
                </a:solidFill>
                <a:latin typeface="Georgia"/>
              </a:rPr>
              <a:t>who staff the discipline.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880360"/>
            <a:ext cx="3310128" cy="1600200"/>
          </a:xfrm>
          <a:prstGeom prst="roundRect">
            <a:avLst>
              <a:gd name="adj" fmla="val 6000"/>
            </a:avLst>
          </a:prstGeom>
          <a:solidFill>
            <a:srgbClr val="F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2880360"/>
            <a:ext cx="91440" cy="1600200"/>
          </a:xfrm>
          <a:prstGeom prst="rect">
            <a:avLst/>
          </a:prstGeom>
          <a:solidFill>
            <a:srgbClr val="456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61288" y="3072384"/>
            <a:ext cx="28529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456A73"/>
                </a:solidFill>
                <a:latin typeface="Georgia"/>
              </a:rPr>
              <a:t>~2,900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" y="3767328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4726A"/>
                </a:solidFill>
                <a:latin typeface="Calibri"/>
              </a:rPr>
              <a:t>chemistry PhDs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4726A"/>
                </a:solidFill>
                <a:latin typeface="Calibri"/>
              </a:rPr>
              <a:t>awarded each year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2880360"/>
            <a:ext cx="3310128" cy="1600200"/>
          </a:xfrm>
          <a:prstGeom prst="roundRect">
            <a:avLst>
              <a:gd name="adj" fmla="val 6000"/>
            </a:avLst>
          </a:prstGeom>
          <a:solidFill>
            <a:srgbClr val="F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07408" y="2880360"/>
            <a:ext cx="91440" cy="1600200"/>
          </a:xfrm>
          <a:prstGeom prst="rect">
            <a:avLst/>
          </a:prstGeom>
          <a:solidFill>
            <a:srgbClr val="A37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27448" y="3072384"/>
            <a:ext cx="28529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A37730"/>
                </a:solidFill>
                <a:latin typeface="Georgia"/>
              </a:rPr>
              <a:t>~196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5736" y="3767328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4726A"/>
                </a:solidFill>
                <a:latin typeface="Calibri"/>
              </a:rPr>
              <a:t>U.S. doctoral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4726A"/>
                </a:solidFill>
                <a:latin typeface="Calibri"/>
              </a:rPr>
              <a:t>programs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2880360"/>
            <a:ext cx="3310128" cy="1600200"/>
          </a:xfrm>
          <a:prstGeom prst="roundRect">
            <a:avLst>
              <a:gd name="adj" fmla="val 6000"/>
            </a:avLst>
          </a:prstGeom>
          <a:solidFill>
            <a:srgbClr val="F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73568" y="2880360"/>
            <a:ext cx="91440" cy="1600200"/>
          </a:xfrm>
          <a:prstGeom prst="rect">
            <a:avLst/>
          </a:prstGeom>
          <a:solidFill>
            <a:srgbClr val="5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3072384"/>
            <a:ext cx="28529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5E7B4F"/>
                </a:solidFill>
                <a:latin typeface="Georgia"/>
              </a:rPr>
              <a:t>Decades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3767328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4726A"/>
                </a:solidFill>
                <a:latin typeface="Calibri"/>
              </a:rPr>
              <a:t>the same structure,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4726A"/>
                </a:solidFill>
                <a:latin typeface="Calibri"/>
              </a:rPr>
              <a:t>largely unchanged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8920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42928"/>
                </a:solidFill>
                <a:latin typeface="Calibri"/>
              </a:rPr>
              <a:t>The same record documents its strains — </a:t>
            </a:r>
            <a:r>
              <a:rPr sz="1800" b="0" i="0">
                <a:solidFill>
                  <a:srgbClr val="242928"/>
                </a:solidFill>
                <a:latin typeface="Calibri"/>
              </a:rPr>
              <a:t>competing responsibilities, no standard assessment of outcomes, uneven implementation, and inconsistent mentorship.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58978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B6B2A7"/>
                </a:solidFill>
                <a:latin typeface="Calibri"/>
              </a:rPr>
              <a:t>Collini et al., 2025  ·  Donkor &amp; Harshman, 2023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1248" y="6419088"/>
            <a:ext cx="10509199" cy="0"/>
          </a:xfrm>
          <a:prstGeom prst="line">
            <a:avLst/>
          </a:prstGeom>
          <a:ln w="9525">
            <a:solidFill>
              <a:srgbClr val="E4E0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6B2A7"/>
                </a:solidFill>
                <a:latin typeface="Calibri"/>
              </a:rPr>
              <a:t>Faculty beliefs about doctoral education</a:t>
            </a:r>
            <a:r>
              <a:rPr sz="1000" b="0" i="1">
                <a:solidFill>
                  <a:srgbClr val="B6B2A7"/>
                </a:solidFill>
                <a:latin typeface="Calibri"/>
              </a:rPr>
              <a:t>   ·   BCCE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62895" y="6473952"/>
            <a:ext cx="987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6B2A7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220">
                <a:solidFill>
                  <a:srgbClr val="5E7B4F"/>
                </a:solidFill>
                <a:latin typeface="Calibri"/>
              </a:rPr>
              <a:t>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24128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i="0">
                <a:solidFill>
                  <a:srgbClr val="242928"/>
                </a:solidFill>
                <a:latin typeface="Georgia"/>
              </a:rPr>
              <a:t>We know what faculty believe about </a:t>
            </a:r>
            <a:r>
              <a:rPr sz="3100" b="0" i="1">
                <a:solidFill>
                  <a:srgbClr val="5E7B4F"/>
                </a:solidFill>
                <a:latin typeface="Georgia"/>
              </a:rPr>
              <a:t>teaching a class.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i="0">
                <a:solidFill>
                  <a:srgbClr val="242928"/>
                </a:solidFill>
                <a:latin typeface="Georgia"/>
              </a:rPr>
              <a:t>We don’t know what they believe about </a:t>
            </a:r>
            <a:r>
              <a:rPr sz="3100" b="0" i="1">
                <a:solidFill>
                  <a:srgbClr val="456A73"/>
                </a:solidFill>
                <a:latin typeface="Georgia"/>
              </a:rPr>
              <a:t>advising a PhD.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3063240"/>
            <a:ext cx="5074920" cy="2514600"/>
          </a:xfrm>
          <a:prstGeom prst="roundRect">
            <a:avLst>
              <a:gd name="adj" fmla="val 5000"/>
            </a:avLst>
          </a:prstGeom>
          <a:solidFill>
            <a:srgbClr val="F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3063240"/>
            <a:ext cx="91440" cy="2514600"/>
          </a:xfrm>
          <a:prstGeom prst="rect">
            <a:avLst/>
          </a:prstGeom>
          <a:solidFill>
            <a:srgbClr val="5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3192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80">
                <a:solidFill>
                  <a:srgbClr val="5E7B4F"/>
                </a:solidFill>
                <a:latin typeface="Calibri"/>
              </a:rPr>
              <a:t>CLASSROOM TEACHING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0"/>
            <a:ext cx="4572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650" b="0" i="0">
                <a:solidFill>
                  <a:srgbClr val="242928"/>
                </a:solidFill>
                <a:latin typeface="Calibri"/>
              </a:rPr>
              <a:t>Faculty beliefs about teaching and learning are well characterized — and predict what happens in the classroom.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i="1">
                <a:solidFill>
                  <a:srgbClr val="74726A"/>
                </a:solidFill>
                <a:latin typeface="Calibri"/>
              </a:rPr>
              <a:t>Gibbons · Lund &amp; Stains · Popova · Mack &amp; Towns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063240"/>
            <a:ext cx="5074920" cy="2514600"/>
          </a:xfrm>
          <a:prstGeom prst="roundRect">
            <a:avLst>
              <a:gd name="adj" fmla="val 5000"/>
            </a:avLst>
          </a:prstGeom>
          <a:solidFill>
            <a:srgbClr val="F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3063240"/>
            <a:ext cx="91440" cy="2514600"/>
          </a:xfrm>
          <a:prstGeom prst="rect">
            <a:avLst/>
          </a:prstGeom>
          <a:solidFill>
            <a:srgbClr val="456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33192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80">
                <a:solidFill>
                  <a:srgbClr val="456A73"/>
                </a:solidFill>
                <a:latin typeface="Calibri"/>
              </a:rPr>
              <a:t>RESEARCH ADVISING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3840480"/>
            <a:ext cx="4572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650" b="0" i="0">
                <a:solidFill>
                  <a:srgbClr val="242928"/>
                </a:solidFill>
                <a:latin typeface="Calibri"/>
              </a:rPr>
              <a:t>The actual work of the doctorate is a </a:t>
            </a:r>
            <a:r>
              <a:rPr sz="1650" b="1" i="0">
                <a:solidFill>
                  <a:srgbClr val="456A73"/>
                </a:solidFill>
                <a:latin typeface="Calibri"/>
              </a:rPr>
              <a:t>different practice</a:t>
            </a:r>
            <a:r>
              <a:rPr sz="1650" b="0" i="0">
                <a:solidFill>
                  <a:srgbClr val="242928"/>
                </a:solidFill>
                <a:latin typeface="Calibri"/>
              </a:rPr>
              <a:t> — and beliefs are tied to the practice they concern. Never characterized.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i="1">
                <a:solidFill>
                  <a:srgbClr val="74726A"/>
                </a:solidFill>
                <a:latin typeface="Calibri"/>
              </a:rPr>
              <a:t>Kagan, 1992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8064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42928"/>
                </a:solidFill>
                <a:latin typeface="Calibri"/>
              </a:rPr>
              <a:t>Donkor et al. (2024) set faculty beliefs deliberately aside — a proper investigation </a:t>
            </a:r>
            <a:r>
              <a:rPr sz="1500" b="1" i="1">
                <a:solidFill>
                  <a:srgbClr val="456A73"/>
                </a:solidFill>
                <a:latin typeface="Calibri"/>
              </a:rPr>
              <a:t>“warranted its own study.”</a:t>
            </a:r>
            <a:r>
              <a:rPr sz="1500" b="0" i="0">
                <a:solidFill>
                  <a:srgbClr val="242928"/>
                </a:solidFill>
                <a:latin typeface="Calibri"/>
              </a:rPr>
              <a:t>   This is that study.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6419088"/>
            <a:ext cx="10509199" cy="0"/>
          </a:xfrm>
          <a:prstGeom prst="line">
            <a:avLst/>
          </a:prstGeom>
          <a:ln w="9525">
            <a:solidFill>
              <a:srgbClr val="E4E0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6B2A7"/>
                </a:solidFill>
                <a:latin typeface="Calibri"/>
              </a:rPr>
              <a:t>Faculty beliefs about doctoral education</a:t>
            </a:r>
            <a:r>
              <a:rPr sz="1000" b="0" i="1">
                <a:solidFill>
                  <a:srgbClr val="B6B2A7"/>
                </a:solidFill>
                <a:latin typeface="Calibri"/>
              </a:rPr>
              <a:t>   ·   BCCE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2895" y="6473952"/>
            <a:ext cx="987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6B2A7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56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280">
                <a:solidFill>
                  <a:srgbClr val="CFDDE1"/>
                </a:solidFill>
                <a:latin typeface="Calibri"/>
              </a:rPr>
              <a:t>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What do chemistry faculty believe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about doctoral education?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892040"/>
            <a:ext cx="24048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E6EEF0"/>
                </a:solidFill>
                <a:latin typeface="Calibri"/>
              </a:rPr>
              <a:t>What the doctorate is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4892040"/>
            <a:ext cx="24048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E6EEF0"/>
                </a:solidFill>
                <a:latin typeface="Calibri"/>
              </a:rPr>
              <a:t>How students learn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4892040"/>
            <a:ext cx="24048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E6EEF0"/>
                </a:solidFill>
                <a:latin typeface="Calibri"/>
              </a:rPr>
              <a:t>Who develops which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4892040"/>
            <a:ext cx="24048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E6EEF0"/>
                </a:solidFill>
                <a:latin typeface="Calibri"/>
              </a:rPr>
              <a:t>The structural conditions</a:t>
            </a:r>
          </a:p>
        </p:txBody>
      </p:sp>
      <p:sp>
        <p:nvSpPr>
          <p:cNvPr id="9" name="Oval 8"/>
          <p:cNvSpPr/>
          <p:nvPr/>
        </p:nvSpPr>
        <p:spPr>
          <a:xfrm>
            <a:off x="3529584" y="5074920"/>
            <a:ext cx="64008" cy="64008"/>
          </a:xfrm>
          <a:prstGeom prst="ellipse">
            <a:avLst/>
          </a:prstGeom>
          <a:solidFill>
            <a:srgbClr val="9CB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135624" y="5074920"/>
            <a:ext cx="64008" cy="64008"/>
          </a:xfrm>
          <a:prstGeom prst="ellipse">
            <a:avLst/>
          </a:prstGeom>
          <a:solidFill>
            <a:srgbClr val="9CB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41663" y="5074920"/>
            <a:ext cx="64008" cy="64008"/>
          </a:xfrm>
          <a:prstGeom prst="ellipse">
            <a:avLst/>
          </a:prstGeom>
          <a:solidFill>
            <a:srgbClr val="9CB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220">
                <a:solidFill>
                  <a:srgbClr val="9D6473"/>
                </a:solidFill>
                <a:latin typeface="Calibri"/>
              </a:rPr>
              <a:t>WHY BELIEFS MATTER  ·  TEACHER-CENTERED SYSTEMIC REFORM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24128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42928"/>
                </a:solidFill>
                <a:latin typeface="Georgia"/>
              </a:rPr>
              <a:t>Reforms keep changing the structures of schooling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42928"/>
                </a:solidFill>
                <a:latin typeface="Georgia"/>
              </a:rPr>
              <a:t>without changing what happens inside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926080"/>
            <a:ext cx="2487168" cy="1234440"/>
          </a:xfrm>
          <a:prstGeom prst="roundRect">
            <a:avLst>
              <a:gd name="adj" fmla="val 7000"/>
            </a:avLst>
          </a:prstGeom>
          <a:solidFill>
            <a:srgbClr val="F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926080"/>
            <a:ext cx="221284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42928"/>
                </a:solidFill>
                <a:latin typeface="Calibri"/>
              </a:rPr>
              <a:t>General context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42928"/>
                </a:solidFill>
                <a:latin typeface="Calibri"/>
              </a:rPr>
              <a:t>of reform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11296" y="2926080"/>
            <a:ext cx="2487168" cy="1234440"/>
          </a:xfrm>
          <a:prstGeom prst="roundRect">
            <a:avLst>
              <a:gd name="adj" fmla="val 7000"/>
            </a:avLst>
          </a:prstGeom>
          <a:solidFill>
            <a:srgbClr val="F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48456" y="2926080"/>
            <a:ext cx="221284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42928"/>
                </a:solidFill>
                <a:latin typeface="Calibri"/>
              </a:rPr>
              <a:t>Teacher's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42928"/>
                </a:solidFill>
                <a:latin typeface="Calibri"/>
              </a:rPr>
              <a:t>personal profile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2926080"/>
            <a:ext cx="2487168" cy="1234440"/>
          </a:xfrm>
          <a:prstGeom prst="roundRect">
            <a:avLst>
              <a:gd name="adj" fmla="val 7000"/>
            </a:avLst>
          </a:prstGeom>
          <a:solidFill>
            <a:srgbClr val="F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2926080"/>
            <a:ext cx="221284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42928"/>
                </a:solidFill>
                <a:latin typeface="Calibri"/>
              </a:rPr>
              <a:t>Structural &amp;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42928"/>
                </a:solidFill>
                <a:latin typeface="Calibri"/>
              </a:rPr>
              <a:t>cultural context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51392" y="2926080"/>
            <a:ext cx="2487168" cy="1234440"/>
          </a:xfrm>
          <a:prstGeom prst="roundRect">
            <a:avLst>
              <a:gd name="adj" fmla="val 7000"/>
            </a:avLst>
          </a:prstGeom>
          <a:solidFill>
            <a:srgbClr val="9D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88552" y="2926080"/>
            <a:ext cx="221284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Teacher thinking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(knowledge + beliefs)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343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74726A"/>
                </a:solidFill>
                <a:latin typeface="Calibri"/>
              </a:rPr>
              <a:t>↓   all four shape whether a reform reaches </a:t>
            </a:r>
            <a:r>
              <a:rPr sz="1500" b="1" i="1">
                <a:solidFill>
                  <a:srgbClr val="242928"/>
                </a:solidFill>
                <a:latin typeface="Calibri"/>
              </a:rPr>
              <a:t>practice</a:t>
            </a:r>
            <a:r>
              <a:rPr sz="1500" b="0" i="0">
                <a:solidFill>
                  <a:srgbClr val="74726A"/>
                </a:solidFill>
                <a:latin typeface="Calibri"/>
              </a:rPr>
              <a:t> — the ultimate determinant of its success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77440" y="5074920"/>
            <a:ext cx="7434072" cy="868680"/>
          </a:xfrm>
          <a:prstGeom prst="roundRect">
            <a:avLst>
              <a:gd name="adj" fmla="val 50000"/>
            </a:avLst>
          </a:prstGeom>
          <a:solidFill>
            <a:srgbClr val="F4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5074920"/>
            <a:ext cx="68580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42928"/>
                </a:solidFill>
                <a:latin typeface="Calibri"/>
              </a:rPr>
              <a:t>Beliefs are self-perpetuating — they can </a:t>
            </a:r>
            <a:r>
              <a:rPr sz="1700" b="1" i="0">
                <a:solidFill>
                  <a:srgbClr val="9D6473"/>
                </a:solidFill>
                <a:latin typeface="Calibri"/>
              </a:rPr>
              <a:t>absorb a reform without yielding to it.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1248" y="6419088"/>
            <a:ext cx="10509199" cy="0"/>
          </a:xfrm>
          <a:prstGeom prst="line">
            <a:avLst/>
          </a:prstGeom>
          <a:ln w="9525">
            <a:solidFill>
              <a:srgbClr val="E4E0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6B2A7"/>
                </a:solidFill>
                <a:latin typeface="Calibri"/>
              </a:rPr>
              <a:t>Faculty beliefs about doctoral education</a:t>
            </a:r>
            <a:r>
              <a:rPr sz="1000" b="0" i="1">
                <a:solidFill>
                  <a:srgbClr val="B6B2A7"/>
                </a:solidFill>
                <a:latin typeface="Calibri"/>
              </a:rPr>
              <a:t>   ·   BCCE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62895" y="6473952"/>
            <a:ext cx="987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6B2A7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220">
                <a:solidFill>
                  <a:srgbClr val="A37730"/>
                </a:solidFill>
                <a:latin typeface="Calibri"/>
              </a:rPr>
              <a:t>WHAT COUNTS AS A BELIEF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24128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242928"/>
                </a:solidFill>
                <a:latin typeface="Georgia"/>
              </a:rPr>
              <a:t>A </a:t>
            </a:r>
            <a:r>
              <a:rPr sz="2700" b="0" i="1">
                <a:solidFill>
                  <a:srgbClr val="A37730"/>
                </a:solidFill>
                <a:latin typeface="Georgia"/>
              </a:rPr>
              <a:t>proposition a person holds true</a:t>
            </a:r>
            <a:r>
              <a:rPr sz="2700" b="0" i="0">
                <a:solidFill>
                  <a:srgbClr val="242928"/>
                </a:solidFill>
                <a:latin typeface="Georgia"/>
              </a:rPr>
              <a:t> and uses to interpret experience and guide 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2860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B6B2A7"/>
                </a:solidFill>
                <a:latin typeface="Calibri"/>
              </a:rPr>
              <a:t>Rokeach, 1968  ·  Green, 1971  ·  Nespor, 1987  ·  Pajares, 1992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880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74726A"/>
                </a:solidFill>
                <a:latin typeface="Calibri"/>
              </a:rPr>
              <a:t>A unit of talk counts as a belief only if it passes all four tests: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3429000"/>
            <a:ext cx="23317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377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51075" y="3630168"/>
            <a:ext cx="512064" cy="512064"/>
          </a:xfrm>
          <a:prstGeom prst="ellipse">
            <a:avLst/>
          </a:prstGeom>
          <a:solidFill>
            <a:srgbClr val="A37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51075" y="363016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270248"/>
            <a:ext cx="2148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42928"/>
                </a:solidFill>
                <a:latin typeface="Calibri"/>
              </a:rPr>
              <a:t>Propositional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617720"/>
            <a:ext cx="21488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74726A"/>
                </a:solidFill>
                <a:latin typeface="Calibri"/>
              </a:rPr>
              <a:t>a proposition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74726A"/>
                </a:solidFill>
                <a:latin typeface="Calibri"/>
              </a:rPr>
              <a:t>held to be true</a:t>
            </a:r>
          </a:p>
        </p:txBody>
      </p:sp>
      <p:sp>
        <p:nvSpPr>
          <p:cNvPr id="12" name="Chevron 11"/>
          <p:cNvSpPr/>
          <p:nvPr/>
        </p:nvSpPr>
        <p:spPr>
          <a:xfrm>
            <a:off x="3227832" y="4128515"/>
            <a:ext cx="274320" cy="292608"/>
          </a:xfrm>
          <a:prstGeom prst="chevron">
            <a:avLst/>
          </a:prstGeom>
          <a:solidFill>
            <a:srgbClr val="B6B2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57015" y="3429000"/>
            <a:ext cx="23317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377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466843" y="3630168"/>
            <a:ext cx="512064" cy="512064"/>
          </a:xfrm>
          <a:prstGeom prst="ellipse">
            <a:avLst/>
          </a:prstGeom>
          <a:solidFill>
            <a:srgbClr val="A37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6843" y="363016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8456" y="4270248"/>
            <a:ext cx="2148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42928"/>
                </a:solidFill>
                <a:latin typeface="Calibri"/>
              </a:rPr>
              <a:t>Evaluative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8456" y="4617720"/>
            <a:ext cx="21488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74726A"/>
                </a:solidFill>
                <a:latin typeface="Calibri"/>
              </a:rPr>
              <a:t>guides interpretation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74726A"/>
                </a:solidFill>
                <a:latin typeface="Calibri"/>
              </a:rPr>
              <a:t>&amp; decisions</a:t>
            </a:r>
          </a:p>
        </p:txBody>
      </p:sp>
      <p:sp>
        <p:nvSpPr>
          <p:cNvPr id="18" name="Chevron 17"/>
          <p:cNvSpPr/>
          <p:nvPr/>
        </p:nvSpPr>
        <p:spPr>
          <a:xfrm>
            <a:off x="5943599" y="4128515"/>
            <a:ext cx="274320" cy="292608"/>
          </a:xfrm>
          <a:prstGeom prst="chevron">
            <a:avLst/>
          </a:prstGeom>
          <a:solidFill>
            <a:srgbClr val="B6B2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72783" y="3429000"/>
            <a:ext cx="23317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377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82612" y="3630168"/>
            <a:ext cx="512064" cy="512064"/>
          </a:xfrm>
          <a:prstGeom prst="ellipse">
            <a:avLst/>
          </a:prstGeom>
          <a:solidFill>
            <a:srgbClr val="A37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2612" y="363016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3" y="4270248"/>
            <a:ext cx="2148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42928"/>
                </a:solidFill>
                <a:latin typeface="Calibri"/>
              </a:rPr>
              <a:t>Personal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3" y="4617720"/>
            <a:ext cx="21488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74726A"/>
                </a:solidFill>
                <a:latin typeface="Calibri"/>
              </a:rPr>
              <a:t>a personal stance,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74726A"/>
                </a:solidFill>
                <a:latin typeface="Calibri"/>
              </a:rPr>
              <a:t>not group consensus</a:t>
            </a:r>
          </a:p>
        </p:txBody>
      </p:sp>
      <p:sp>
        <p:nvSpPr>
          <p:cNvPr id="24" name="Chevron 23"/>
          <p:cNvSpPr/>
          <p:nvPr/>
        </p:nvSpPr>
        <p:spPr>
          <a:xfrm>
            <a:off x="8659368" y="4128515"/>
            <a:ext cx="274320" cy="292608"/>
          </a:xfrm>
          <a:prstGeom prst="chevron">
            <a:avLst/>
          </a:prstGeom>
          <a:solidFill>
            <a:srgbClr val="B6B2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88551" y="3429000"/>
            <a:ext cx="23317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377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98380" y="3630168"/>
            <a:ext cx="512064" cy="512064"/>
          </a:xfrm>
          <a:prstGeom prst="ellipse">
            <a:avLst/>
          </a:prstGeom>
          <a:solidFill>
            <a:srgbClr val="A37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98380" y="363016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9991" y="4270248"/>
            <a:ext cx="2148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42928"/>
                </a:solidFill>
                <a:latin typeface="Calibri"/>
              </a:rPr>
              <a:t>Resistant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9991" y="4617720"/>
            <a:ext cx="21488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74726A"/>
                </a:solidFill>
                <a:latin typeface="Calibri"/>
              </a:rPr>
              <a:t>holds up against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74726A"/>
                </a:solidFill>
                <a:latin typeface="Calibri"/>
              </a:rPr>
              <a:t>its own counter-evidence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60520" y="5440680"/>
            <a:ext cx="3867912" cy="566928"/>
          </a:xfrm>
          <a:prstGeom prst="roundRect">
            <a:avLst>
              <a:gd name="adj" fmla="val 50000"/>
            </a:avLst>
          </a:prstGeom>
          <a:solidFill>
            <a:srgbClr val="A37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60520" y="5440680"/>
            <a:ext cx="38679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= a belief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41248" y="6419088"/>
            <a:ext cx="10509199" cy="0"/>
          </a:xfrm>
          <a:prstGeom prst="line">
            <a:avLst/>
          </a:prstGeom>
          <a:ln w="9525">
            <a:solidFill>
              <a:srgbClr val="E4E0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6B2A7"/>
                </a:solidFill>
                <a:latin typeface="Calibri"/>
              </a:rPr>
              <a:t>Faculty beliefs about doctoral education</a:t>
            </a:r>
            <a:r>
              <a:rPr sz="1000" b="0" i="1">
                <a:solidFill>
                  <a:srgbClr val="B6B2A7"/>
                </a:solidFill>
                <a:latin typeface="Calibri"/>
              </a:rPr>
              <a:t>   ·   BCCE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62895" y="6473952"/>
            <a:ext cx="987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6B2A7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220">
                <a:solidFill>
                  <a:srgbClr val="456A73"/>
                </a:solidFill>
                <a:latin typeface="Calibri"/>
              </a:rPr>
              <a:t>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2412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242928"/>
                </a:solidFill>
                <a:latin typeface="Georgia"/>
              </a:rPr>
              <a:t>An interpretive design built to capture the </a:t>
            </a:r>
            <a:r>
              <a:rPr sz="2700" b="0" i="1">
                <a:solidFill>
                  <a:srgbClr val="456A73"/>
                </a:solidFill>
                <a:latin typeface="Georgia"/>
              </a:rPr>
              <a:t>range</a:t>
            </a:r>
            <a:r>
              <a:rPr sz="2700" b="0" i="0">
                <a:solidFill>
                  <a:srgbClr val="242928"/>
                </a:solidFill>
                <a:latin typeface="Georgia"/>
              </a:rPr>
              <a:t> of faculty belief</a:t>
            </a:r>
          </a:p>
        </p:txBody>
      </p:sp>
      <p:sp>
        <p:nvSpPr>
          <p:cNvPr id="5" name="Oval 4"/>
          <p:cNvSpPr/>
          <p:nvPr/>
        </p:nvSpPr>
        <p:spPr>
          <a:xfrm>
            <a:off x="896112" y="2295144"/>
            <a:ext cx="146304" cy="146304"/>
          </a:xfrm>
          <a:prstGeom prst="ellipse">
            <a:avLst/>
          </a:prstGeom>
          <a:solidFill>
            <a:srgbClr val="456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242928"/>
                </a:solidFill>
                <a:latin typeface="Calibri"/>
              </a:rPr>
              <a:t>20 faculty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569464"/>
            <a:ext cx="9784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4726A"/>
                </a:solidFill>
                <a:latin typeface="Calibri"/>
              </a:rPr>
              <a:t>across U.S. doctoral programs, research-active, currently advising</a:t>
            </a:r>
          </a:p>
        </p:txBody>
      </p:sp>
      <p:sp>
        <p:nvSpPr>
          <p:cNvPr id="8" name="Oval 7"/>
          <p:cNvSpPr/>
          <p:nvPr/>
        </p:nvSpPr>
        <p:spPr>
          <a:xfrm>
            <a:off x="896112" y="3227832"/>
            <a:ext cx="146304" cy="146304"/>
          </a:xfrm>
          <a:prstGeom prst="ellipse">
            <a:avLst/>
          </a:prstGeom>
          <a:solidFill>
            <a:srgbClr val="456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312724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242928"/>
                </a:solidFill>
                <a:latin typeface="Calibri"/>
              </a:rPr>
              <a:t>Interviews + card sort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502152"/>
            <a:ext cx="9784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4726A"/>
                </a:solidFill>
                <a:latin typeface="Calibri"/>
              </a:rPr>
              <a:t>~60-min semi-structured (modified Teacher Beliefs Interview); the sort as a second elicitation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4160520"/>
            <a:ext cx="146304" cy="146304"/>
          </a:xfrm>
          <a:prstGeom prst="ellipse">
            <a:avLst/>
          </a:prstGeom>
          <a:solidFill>
            <a:srgbClr val="456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059936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242928"/>
                </a:solidFill>
                <a:latin typeface="Calibri"/>
              </a:rPr>
              <a:t>Phenomenography + thematic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34840"/>
            <a:ext cx="9784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4726A"/>
                </a:solidFill>
                <a:latin typeface="Calibri"/>
              </a:rPr>
              <a:t>the range of ways faculty understand, plus keyness — not frequency — as the reporting rule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5029200"/>
            <a:ext cx="10515600" cy="868680"/>
          </a:xfrm>
          <a:prstGeom prst="roundRect">
            <a:avLst>
              <a:gd name="adj" fmla="val 35000"/>
            </a:avLst>
          </a:prstGeom>
          <a:solidFill>
            <a:srgbClr val="F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029200"/>
            <a:ext cx="3108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456A73"/>
                </a:solidFill>
                <a:latin typeface="Georgia"/>
              </a:rPr>
              <a:t>990  </a:t>
            </a:r>
            <a:r>
              <a:rPr sz="1600" b="0" i="0">
                <a:solidFill>
                  <a:srgbClr val="242928"/>
                </a:solidFill>
                <a:latin typeface="Calibri"/>
              </a:rPr>
              <a:t>sub-codes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5029200"/>
            <a:ext cx="3108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456A73"/>
                </a:solidFill>
                <a:latin typeface="Georgia"/>
              </a:rPr>
              <a:t>15  </a:t>
            </a:r>
            <a:r>
              <a:rPr sz="1600" b="0" i="0">
                <a:solidFill>
                  <a:srgbClr val="242928"/>
                </a:solidFill>
                <a:latin typeface="Calibri"/>
              </a:rPr>
              <a:t>codes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0416" y="5029200"/>
            <a:ext cx="3108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456A73"/>
                </a:solidFill>
                <a:latin typeface="Georgia"/>
              </a:rPr>
              <a:t>4  </a:t>
            </a:r>
            <a:r>
              <a:rPr sz="1600" b="0" i="0">
                <a:solidFill>
                  <a:srgbClr val="242928"/>
                </a:solidFill>
                <a:latin typeface="Calibri"/>
              </a:rPr>
              <a:t>themes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01084" y="502920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B6B2A7"/>
                </a:solidFill>
                <a:latin typeface="Calibri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6932" y="502920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B6B2A7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6035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74726A"/>
                </a:solidFill>
                <a:latin typeface="Calibri"/>
              </a:rPr>
              <a:t>No new codes appeared after interview 7 — the result held from 10 participants to all 20.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41248" y="6419088"/>
            <a:ext cx="10509199" cy="0"/>
          </a:xfrm>
          <a:prstGeom prst="line">
            <a:avLst/>
          </a:prstGeom>
          <a:ln w="9525">
            <a:solidFill>
              <a:srgbClr val="E4E0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6B2A7"/>
                </a:solidFill>
                <a:latin typeface="Calibri"/>
              </a:rPr>
              <a:t>Faculty beliefs about doctoral education</a:t>
            </a:r>
            <a:r>
              <a:rPr sz="1000" b="0" i="1">
                <a:solidFill>
                  <a:srgbClr val="B6B2A7"/>
                </a:solidFill>
                <a:latin typeface="Calibri"/>
              </a:rPr>
              <a:t>   ·   BCCE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62895" y="6473952"/>
            <a:ext cx="987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6B2A7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220">
                <a:solidFill>
                  <a:srgbClr val="5E7B4F"/>
                </a:solidFill>
                <a:latin typeface="Calibri"/>
              </a:rPr>
              <a:t>THE SAMPLE  ·  N =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2412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242928"/>
                </a:solidFill>
                <a:latin typeface="Georgia"/>
              </a:rPr>
              <a:t>Recruited for </a:t>
            </a:r>
            <a:r>
              <a:rPr sz="2700" b="0" i="1">
                <a:solidFill>
                  <a:srgbClr val="5E7B4F"/>
                </a:solidFill>
                <a:latin typeface="Georgia"/>
              </a:rPr>
              <a:t>maximum variation</a:t>
            </a:r>
            <a:r>
              <a:rPr sz="2700" b="0" i="0">
                <a:solidFill>
                  <a:srgbClr val="242928"/>
                </a:solidFill>
                <a:latin typeface="Georgia"/>
              </a:rPr>
              <a:t> across profile and subfield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3042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42928"/>
                </a:solidFill>
                <a:latin typeface="Calibri"/>
              </a:rPr>
              <a:t>Gender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90088" y="2331720"/>
            <a:ext cx="4937760" cy="310896"/>
          </a:xfrm>
          <a:prstGeom prst="roundRect">
            <a:avLst>
              <a:gd name="adj" fmla="val 50000"/>
            </a:avLst>
          </a:prstGeom>
          <a:solidFill>
            <a:srgbClr val="E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90088" y="2331720"/>
            <a:ext cx="3209544" cy="310896"/>
          </a:xfrm>
          <a:prstGeom prst="roundRect">
            <a:avLst>
              <a:gd name="adj" fmla="val 50000"/>
            </a:avLst>
          </a:prstGeom>
          <a:solidFill>
            <a:srgbClr val="5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65008" y="230428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74726A"/>
                </a:solidFill>
                <a:latin typeface="Calibri"/>
              </a:rPr>
              <a:t>13 men  ·  7 women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87121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42928"/>
                </a:solidFill>
                <a:latin typeface="Calibri"/>
              </a:rPr>
              <a:t>Race / ethnicity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0088" y="2898648"/>
            <a:ext cx="4937760" cy="310896"/>
          </a:xfrm>
          <a:prstGeom prst="roundRect">
            <a:avLst>
              <a:gd name="adj" fmla="val 50000"/>
            </a:avLst>
          </a:prstGeom>
          <a:solidFill>
            <a:srgbClr val="E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2898648"/>
            <a:ext cx="3209544" cy="310896"/>
          </a:xfrm>
          <a:prstGeom prst="roundRect">
            <a:avLst>
              <a:gd name="adj" fmla="val 50000"/>
            </a:avLst>
          </a:prstGeom>
          <a:solidFill>
            <a:srgbClr val="5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2871216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74726A"/>
                </a:solidFill>
                <a:latin typeface="Calibri"/>
              </a:rPr>
              <a:t>13 White  ·  7 non-White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43814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42928"/>
                </a:solidFill>
                <a:latin typeface="Calibri"/>
              </a:rPr>
              <a:t>Rank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90088" y="3465576"/>
            <a:ext cx="4937760" cy="310896"/>
          </a:xfrm>
          <a:prstGeom prst="roundRect">
            <a:avLst>
              <a:gd name="adj" fmla="val 50000"/>
            </a:avLst>
          </a:prstGeom>
          <a:solidFill>
            <a:srgbClr val="E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90088" y="3465576"/>
            <a:ext cx="3703320" cy="310896"/>
          </a:xfrm>
          <a:prstGeom prst="roundRect">
            <a:avLst>
              <a:gd name="adj" fmla="val 50000"/>
            </a:avLst>
          </a:prstGeom>
          <a:solidFill>
            <a:srgbClr val="5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5008" y="3438144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74726A"/>
                </a:solidFill>
                <a:latin typeface="Calibri"/>
              </a:rPr>
              <a:t>15 full professors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00507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42928"/>
                </a:solidFill>
                <a:latin typeface="Calibri"/>
              </a:rPr>
              <a:t>Institution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0088" y="4032504"/>
            <a:ext cx="4937760" cy="310896"/>
          </a:xfrm>
          <a:prstGeom prst="roundRect">
            <a:avLst>
              <a:gd name="adj" fmla="val 50000"/>
            </a:avLst>
          </a:prstGeom>
          <a:solidFill>
            <a:srgbClr val="E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990088" y="4032504"/>
            <a:ext cx="3456432" cy="310896"/>
          </a:xfrm>
          <a:prstGeom prst="roundRect">
            <a:avLst>
              <a:gd name="adj" fmla="val 50000"/>
            </a:avLst>
          </a:prstGeom>
          <a:solidFill>
            <a:srgbClr val="5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65008" y="400507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74726A"/>
                </a:solidFill>
                <a:latin typeface="Calibri"/>
              </a:rPr>
              <a:t>14 at R1 institutions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5720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42928"/>
                </a:solidFill>
                <a:latin typeface="Calibri"/>
              </a:rPr>
              <a:t>Doctoral training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90088" y="4599432"/>
            <a:ext cx="4937760" cy="310896"/>
          </a:xfrm>
          <a:prstGeom prst="roundRect">
            <a:avLst>
              <a:gd name="adj" fmla="val 50000"/>
            </a:avLst>
          </a:prstGeom>
          <a:solidFill>
            <a:srgbClr val="E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990088" y="4599432"/>
            <a:ext cx="4443984" cy="310896"/>
          </a:xfrm>
          <a:prstGeom prst="roundRect">
            <a:avLst>
              <a:gd name="adj" fmla="val 50000"/>
            </a:avLst>
          </a:prstGeom>
          <a:solidFill>
            <a:srgbClr val="5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65008" y="45720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74726A"/>
                </a:solidFill>
                <a:latin typeface="Calibri"/>
              </a:rPr>
              <a:t>18 trained in the U.S.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53492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00">
                <a:solidFill>
                  <a:srgbClr val="5E7B4F"/>
                </a:solidFill>
                <a:latin typeface="Calibri"/>
              </a:rPr>
              <a:t>SUBDISCIPLINES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5742432"/>
            <a:ext cx="1203350" cy="329184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5E7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742432"/>
            <a:ext cx="120335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E7B4F"/>
                </a:solidFill>
                <a:latin typeface="Calibri"/>
              </a:rPr>
              <a:t>Inorganic ×5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90902" y="5742432"/>
            <a:ext cx="1658721" cy="329184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5E7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90902" y="5742432"/>
            <a:ext cx="165872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E7B4F"/>
                </a:solidFill>
                <a:latin typeface="Calibri"/>
              </a:rPr>
              <a:t>Chem. education ×2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95928" y="5742432"/>
            <a:ext cx="1203350" cy="329184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5E7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95928" y="5742432"/>
            <a:ext cx="120335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E7B4F"/>
                </a:solidFill>
                <a:latin typeface="Calibri"/>
              </a:rPr>
              <a:t>Materials ×2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45582" y="5742432"/>
            <a:ext cx="1127455" cy="329184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5E7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5582" y="5742432"/>
            <a:ext cx="1127455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E7B4F"/>
                </a:solidFill>
                <a:latin typeface="Calibri"/>
              </a:rPr>
              <a:t>Physical ×2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19341" y="5742432"/>
            <a:ext cx="1355140" cy="329184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5E7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19341" y="5742432"/>
            <a:ext cx="13551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E7B4F"/>
                </a:solidFill>
                <a:latin typeface="Calibri"/>
              </a:rPr>
              <a:t>Biophysical ×2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20786" y="5742432"/>
            <a:ext cx="1051560" cy="329184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5E7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20786" y="5742432"/>
            <a:ext cx="1051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E7B4F"/>
                </a:solidFill>
                <a:latin typeface="Calibri"/>
              </a:rPr>
              <a:t>Organic ×2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18650" y="5742432"/>
            <a:ext cx="1279245" cy="329184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5E7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18650" y="5742432"/>
            <a:ext cx="1279245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E7B4F"/>
                </a:solidFill>
                <a:latin typeface="Calibri"/>
              </a:rPr>
              <a:t>+5 singletons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" y="626364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6B2A7"/>
                </a:solidFill>
                <a:latin typeface="Calibri"/>
              </a:rPr>
              <a:t>Analytical generalization &amp; transferability — not population estimates. Skews senior/male; see limitations.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41248" y="6419088"/>
            <a:ext cx="10509199" cy="0"/>
          </a:xfrm>
          <a:prstGeom prst="line">
            <a:avLst/>
          </a:prstGeom>
          <a:ln w="9525">
            <a:solidFill>
              <a:srgbClr val="E4E0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6B2A7"/>
                </a:solidFill>
                <a:latin typeface="Calibri"/>
              </a:rPr>
              <a:t>Faculty beliefs about doctoral education</a:t>
            </a:r>
            <a:r>
              <a:rPr sz="1000" b="0" i="1">
                <a:solidFill>
                  <a:srgbClr val="B6B2A7"/>
                </a:solidFill>
                <a:latin typeface="Calibri"/>
              </a:rPr>
              <a:t>   ·   BCCE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62895" y="6473952"/>
            <a:ext cx="987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6B2A7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960120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300">
                <a:solidFill>
                  <a:srgbClr val="A9A59A"/>
                </a:solidFill>
                <a:latin typeface="Calibri"/>
              </a:rPr>
              <a:t>THE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Faculty </a:t>
            </a:r>
            <a:r>
              <a:rPr sz="4000" b="0" i="1">
                <a:solidFill>
                  <a:srgbClr val="9CC0C9"/>
                </a:solidFill>
                <a:latin typeface="Georgia"/>
              </a:rPr>
              <a:t>agree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 on the propositions.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They </a:t>
            </a:r>
            <a:r>
              <a:rPr sz="4000" b="0" i="1">
                <a:solidFill>
                  <a:srgbClr val="D6A1B0"/>
                </a:solidFill>
                <a:latin typeface="Georgia"/>
              </a:rPr>
              <a:t>divide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 on where the boundaries fall.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709160"/>
            <a:ext cx="8503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D8D4C9"/>
                </a:solidFill>
                <a:latin typeface="Georgia"/>
              </a:rPr>
              <a:t>“What differs is not which beliefs faculty hold, but where they draw the lines those beliefs require.”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56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240">
                <a:solidFill>
                  <a:srgbClr val="456A73"/>
                </a:solidFill>
                <a:latin typeface="Calibri"/>
              </a:rPr>
              <a:t>THEME 1 OF 4</a:t>
            </a:r>
            <a:r>
              <a:rPr sz="1250" b="1" i="0" spc="160">
                <a:solidFill>
                  <a:srgbClr val="74726A"/>
                </a:solidFill>
                <a:latin typeface="Calibri"/>
              </a:rPr>
              <a:t>   ·   WHAT THE DOCTORATE IS FOR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3823" y="502920"/>
            <a:ext cx="566928" cy="365760"/>
          </a:xfrm>
          <a:prstGeom prst="roundRect">
            <a:avLst>
              <a:gd name="adj" fmla="val 50000"/>
            </a:avLst>
          </a:prstGeom>
          <a:solidFill>
            <a:srgbClr val="456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43823" y="502920"/>
            <a:ext cx="566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0479" y="502920"/>
            <a:ext cx="566928" cy="365760"/>
          </a:xfrm>
          <a:prstGeom prst="roundRect">
            <a:avLst>
              <a:gd name="adj" fmla="val 50000"/>
            </a:avLst>
          </a:prstGeom>
          <a:solidFill>
            <a:srgbClr val="456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0479" y="502920"/>
            <a:ext cx="566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UN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97135" y="502920"/>
            <a:ext cx="566928" cy="365760"/>
          </a:xfrm>
          <a:prstGeom prst="roundRect">
            <a:avLst>
              <a:gd name="adj" fmla="val 50000"/>
            </a:avLst>
          </a:prstGeom>
          <a:solidFill>
            <a:srgbClr val="456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97135" y="502920"/>
            <a:ext cx="566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73791" y="502920"/>
            <a:ext cx="566928" cy="365760"/>
          </a:xfrm>
          <a:prstGeom prst="roundRect">
            <a:avLst>
              <a:gd name="adj" fmla="val 50000"/>
            </a:avLst>
          </a:prstGeom>
          <a:solidFill>
            <a:srgbClr val="456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73791" y="502920"/>
            <a:ext cx="566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114300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242928"/>
                </a:solidFill>
                <a:latin typeface="Georgia"/>
              </a:rPr>
              <a:t>The doctorate develops a self-directed scientist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242928"/>
                </a:solidFill>
                <a:latin typeface="Georgia"/>
              </a:rPr>
              <a:t>in service of the student’s own goals.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2697480"/>
            <a:ext cx="10515600" cy="1783080"/>
          </a:xfrm>
          <a:prstGeom prst="roundRect">
            <a:avLst>
              <a:gd name="adj" fmla="val 5000"/>
            </a:avLst>
          </a:prstGeom>
          <a:solidFill>
            <a:srgbClr val="F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" y="2697480"/>
            <a:ext cx="91440" cy="1783080"/>
          </a:xfrm>
          <a:prstGeom prst="rect">
            <a:avLst/>
          </a:prstGeom>
          <a:solidFill>
            <a:srgbClr val="456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9576" y="2468880"/>
            <a:ext cx="1097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0" b="1" i="0">
                <a:solidFill>
                  <a:srgbClr val="456A73"/>
                </a:solidFill>
                <a:latin typeface="Georgia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17520"/>
            <a:ext cx="9125712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242928"/>
                </a:solidFill>
                <a:latin typeface="Georgia"/>
              </a:rPr>
              <a:t>When they start bringing ideas forward without necessarily being prompted.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01368" y="40690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56A73"/>
                </a:solidFill>
                <a:latin typeface="Calibri"/>
              </a:rPr>
              <a:t>— P2  ·  on what independence looks like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7548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456A73"/>
                </a:solidFill>
                <a:latin typeface="Calibri"/>
              </a:rPr>
              <a:t>WHERE FACULTY DIVIDE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4560" y="5440680"/>
            <a:ext cx="7772400" cy="0"/>
          </a:xfrm>
          <a:prstGeom prst="line">
            <a:avLst/>
          </a:prstGeom>
          <a:ln w="25400">
            <a:solidFill>
              <a:srgbClr val="456A73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057400" y="5513832"/>
            <a:ext cx="3886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928"/>
                </a:solidFill>
                <a:latin typeface="Calibri"/>
              </a:rPr>
              <a:t>Answering existing questions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5513832"/>
            <a:ext cx="3886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928"/>
                </a:solidFill>
                <a:latin typeface="Calibri"/>
              </a:rPr>
              <a:t>Asking new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5916168"/>
            <a:ext cx="7772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74726A"/>
                </a:solidFill>
                <a:latin typeface="Calibri"/>
              </a:rPr>
              <a:t>The realistic goal vs. the higher bar for the degree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41248" y="6419088"/>
            <a:ext cx="10509199" cy="0"/>
          </a:xfrm>
          <a:prstGeom prst="line">
            <a:avLst/>
          </a:prstGeom>
          <a:ln w="9525">
            <a:solidFill>
              <a:srgbClr val="E4E0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6B2A7"/>
                </a:solidFill>
                <a:latin typeface="Calibri"/>
              </a:rPr>
              <a:t>Faculty beliefs about doctoral education</a:t>
            </a:r>
            <a:r>
              <a:rPr sz="1000" b="0" i="1">
                <a:solidFill>
                  <a:srgbClr val="B6B2A7"/>
                </a:solidFill>
                <a:latin typeface="Calibri"/>
              </a:rPr>
              <a:t>   ·   BCCE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62895" y="6473952"/>
            <a:ext cx="987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6B2A7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A37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240">
                <a:solidFill>
                  <a:srgbClr val="A37730"/>
                </a:solidFill>
                <a:latin typeface="Calibri"/>
              </a:rPr>
              <a:t>THEME 2 OF 4</a:t>
            </a:r>
            <a:r>
              <a:rPr sz="1250" b="1" i="0" spc="160">
                <a:solidFill>
                  <a:srgbClr val="74726A"/>
                </a:solidFill>
                <a:latin typeface="Calibri"/>
              </a:rPr>
              <a:t>   ·   HOW STUDENTS LEARN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0479" y="502920"/>
            <a:ext cx="566928" cy="365760"/>
          </a:xfrm>
          <a:prstGeom prst="roundRect">
            <a:avLst>
              <a:gd name="adj" fmla="val 50000"/>
            </a:avLst>
          </a:prstGeom>
          <a:solidFill>
            <a:srgbClr val="A37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0479" y="502920"/>
            <a:ext cx="566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97135" y="502920"/>
            <a:ext cx="566928" cy="365760"/>
          </a:xfrm>
          <a:prstGeom prst="roundRect">
            <a:avLst>
              <a:gd name="adj" fmla="val 50000"/>
            </a:avLst>
          </a:prstGeom>
          <a:solidFill>
            <a:srgbClr val="A37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97135" y="502920"/>
            <a:ext cx="566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LO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73791" y="502920"/>
            <a:ext cx="566928" cy="365760"/>
          </a:xfrm>
          <a:prstGeom prst="roundRect">
            <a:avLst>
              <a:gd name="adj" fmla="val 50000"/>
            </a:avLst>
          </a:prstGeom>
          <a:solidFill>
            <a:srgbClr val="A37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73791" y="502920"/>
            <a:ext cx="566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114300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242928"/>
                </a:solidFill>
                <a:latin typeface="Georgia"/>
              </a:rPr>
              <a:t>Students learn by doing scaffolded research —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242928"/>
                </a:solidFill>
                <a:latin typeface="Georgia"/>
              </a:rPr>
              <a:t>and learning shows in performance, not grades.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697480"/>
            <a:ext cx="10515600" cy="1783080"/>
          </a:xfrm>
          <a:prstGeom prst="roundRect">
            <a:avLst>
              <a:gd name="adj" fmla="val 5000"/>
            </a:avLst>
          </a:prstGeom>
          <a:solidFill>
            <a:srgbClr val="F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8" y="2697480"/>
            <a:ext cx="91440" cy="1783080"/>
          </a:xfrm>
          <a:prstGeom prst="rect">
            <a:avLst/>
          </a:prstGeom>
          <a:solidFill>
            <a:srgbClr val="A37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9576" y="2468880"/>
            <a:ext cx="1097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0" b="1" i="0">
                <a:solidFill>
                  <a:srgbClr val="A37730"/>
                </a:solidFill>
                <a:latin typeface="Georgia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01368" y="3017520"/>
            <a:ext cx="9125712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242928"/>
                </a:solidFill>
                <a:latin typeface="Georgia"/>
              </a:rPr>
              <a:t>I do. We do. You do — spread out over X number of years.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1368" y="40690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37730"/>
                </a:solidFill>
                <a:latin typeface="Calibri"/>
              </a:rPr>
              <a:t>— P5  ·  on how research is learned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7548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A37730"/>
                </a:solidFill>
                <a:latin typeface="Calibri"/>
              </a:rPr>
              <a:t>WHERE FACULTY DIVIDE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194560" y="5440680"/>
            <a:ext cx="7772400" cy="0"/>
          </a:xfrm>
          <a:prstGeom prst="line">
            <a:avLst/>
          </a:prstGeom>
          <a:ln w="25400">
            <a:solidFill>
              <a:srgbClr val="A3773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057400" y="5513832"/>
            <a:ext cx="3886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928"/>
                </a:solidFill>
                <a:latin typeface="Calibri"/>
              </a:rPr>
              <a:t>Unsupported struggle helps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513832"/>
            <a:ext cx="3886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928"/>
                </a:solidFill>
                <a:latin typeface="Calibri"/>
              </a:rPr>
              <a:t>Struggle should be scaffolded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5916168"/>
            <a:ext cx="7772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74726A"/>
                </a:solidFill>
                <a:latin typeface="Calibri"/>
              </a:rPr>
              <a:t>Same formative deprivation, opposite lessons — P13 vs. P7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6419088"/>
            <a:ext cx="10509199" cy="0"/>
          </a:xfrm>
          <a:prstGeom prst="line">
            <a:avLst/>
          </a:prstGeom>
          <a:ln w="9525">
            <a:solidFill>
              <a:srgbClr val="E4E0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6B2A7"/>
                </a:solidFill>
                <a:latin typeface="Calibri"/>
              </a:rPr>
              <a:t>Faculty beliefs about doctoral education</a:t>
            </a:r>
            <a:r>
              <a:rPr sz="1000" b="0" i="1">
                <a:solidFill>
                  <a:srgbClr val="B6B2A7"/>
                </a:solidFill>
                <a:latin typeface="Calibri"/>
              </a:rPr>
              <a:t>   ·   BCCE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62895" y="6473952"/>
            <a:ext cx="987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6B2A7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240">
                <a:solidFill>
                  <a:srgbClr val="5E7B4F"/>
                </a:solidFill>
                <a:latin typeface="Calibri"/>
              </a:rPr>
              <a:t>THEME 3 OF 4</a:t>
            </a:r>
            <a:r>
              <a:rPr sz="1250" b="1" i="0" spc="160">
                <a:solidFill>
                  <a:srgbClr val="74726A"/>
                </a:solidFill>
                <a:latin typeface="Calibri"/>
              </a:rPr>
              <a:t>   ·   WHO DEVELOPS WHICH SKILL  (LARGEST THEME)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90511" y="502920"/>
            <a:ext cx="566928" cy="365760"/>
          </a:xfrm>
          <a:prstGeom prst="roundRect">
            <a:avLst>
              <a:gd name="adj" fmla="val 50000"/>
            </a:avLst>
          </a:prstGeom>
          <a:solidFill>
            <a:srgbClr val="5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90511" y="502920"/>
            <a:ext cx="566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MB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67167" y="502920"/>
            <a:ext cx="566928" cy="365760"/>
          </a:xfrm>
          <a:prstGeom prst="roundRect">
            <a:avLst>
              <a:gd name="adj" fmla="val 50000"/>
            </a:avLst>
          </a:prstGeom>
          <a:solidFill>
            <a:srgbClr val="5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67167" y="502920"/>
            <a:ext cx="566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FA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43823" y="502920"/>
            <a:ext cx="566928" cy="365760"/>
          </a:xfrm>
          <a:prstGeom prst="roundRect">
            <a:avLst>
              <a:gd name="adj" fmla="val 50000"/>
            </a:avLst>
          </a:prstGeom>
          <a:solidFill>
            <a:srgbClr val="5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3823" y="502920"/>
            <a:ext cx="566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OE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0479" y="502920"/>
            <a:ext cx="566928" cy="365760"/>
          </a:xfrm>
          <a:prstGeom prst="roundRect">
            <a:avLst>
              <a:gd name="adj" fmla="val 50000"/>
            </a:avLst>
          </a:prstGeom>
          <a:solidFill>
            <a:srgbClr val="5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0479" y="502920"/>
            <a:ext cx="566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97135" y="502920"/>
            <a:ext cx="566928" cy="365760"/>
          </a:xfrm>
          <a:prstGeom prst="roundRect">
            <a:avLst>
              <a:gd name="adj" fmla="val 50000"/>
            </a:avLst>
          </a:prstGeom>
          <a:solidFill>
            <a:srgbClr val="5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97135" y="502920"/>
            <a:ext cx="566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73791" y="502920"/>
            <a:ext cx="566928" cy="365760"/>
          </a:xfrm>
          <a:prstGeom prst="roundRect">
            <a:avLst>
              <a:gd name="adj" fmla="val 50000"/>
            </a:avLst>
          </a:prstGeom>
          <a:solidFill>
            <a:srgbClr val="5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73791" y="502920"/>
            <a:ext cx="566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MP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114300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242928"/>
                </a:solidFill>
                <a:latin typeface="Georgia"/>
              </a:rPr>
              <a:t>Development is a shared responsibility in a two-way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242928"/>
                </a:solidFill>
                <a:latin typeface="Georgia"/>
              </a:rPr>
              <a:t>relationship — and who develops which skill varies.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2697480"/>
            <a:ext cx="10515600" cy="1783080"/>
          </a:xfrm>
          <a:prstGeom prst="roundRect">
            <a:avLst>
              <a:gd name="adj" fmla="val 5000"/>
            </a:avLst>
          </a:prstGeom>
          <a:solidFill>
            <a:srgbClr val="F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" y="2697480"/>
            <a:ext cx="91440" cy="1783080"/>
          </a:xfrm>
          <a:prstGeom prst="rect">
            <a:avLst/>
          </a:prstGeom>
          <a:solidFill>
            <a:srgbClr val="5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79576" y="2468880"/>
            <a:ext cx="1097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0" b="1" i="0">
                <a:solidFill>
                  <a:srgbClr val="5E7B4F"/>
                </a:solidFill>
                <a:latin typeface="Georgia"/>
              </a:rPr>
              <a:t>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3017520"/>
            <a:ext cx="9125712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242928"/>
                </a:solidFill>
                <a:latin typeface="Georgia"/>
              </a:rPr>
              <a:t>I go from the leader to the follower, and they start as the follower and end up as the leader.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01368" y="40690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E7B4F"/>
                </a:solidFill>
                <a:latin typeface="Calibri"/>
              </a:rPr>
              <a:t>— P6  ·  on how responsibility transfers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7548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E7B4F"/>
                </a:solidFill>
                <a:latin typeface="Calibri"/>
              </a:rPr>
              <a:t>WHERE FACULTY DIVIDE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194560" y="5440680"/>
            <a:ext cx="7772400" cy="0"/>
          </a:xfrm>
          <a:prstGeom prst="line">
            <a:avLst/>
          </a:prstGeom>
          <a:ln w="25400">
            <a:solidFill>
              <a:srgbClr val="5E7B4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057400" y="5513832"/>
            <a:ext cx="3886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928"/>
                </a:solidFill>
                <a:latin typeface="Calibri"/>
              </a:rPr>
              <a:t>Faculty’s to teach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5513832"/>
            <a:ext cx="3886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928"/>
                </a:solidFill>
                <a:latin typeface="Calibri"/>
              </a:rPr>
              <a:t>Student’s to 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5916168"/>
            <a:ext cx="7772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74726A"/>
                </a:solidFill>
                <a:latin typeface="Calibri"/>
              </a:rPr>
              <a:t>The same skill — e.g. creativity — is one faculty’s to teach (P5, P17), another’s for the student (P9, P11)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1248" y="6419088"/>
            <a:ext cx="10509199" cy="0"/>
          </a:xfrm>
          <a:prstGeom prst="line">
            <a:avLst/>
          </a:prstGeom>
          <a:ln w="9525">
            <a:solidFill>
              <a:srgbClr val="E4E0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6B2A7"/>
                </a:solidFill>
                <a:latin typeface="Calibri"/>
              </a:rPr>
              <a:t>Faculty beliefs about doctoral education</a:t>
            </a:r>
            <a:r>
              <a:rPr sz="1000" b="0" i="1">
                <a:solidFill>
                  <a:srgbClr val="B6B2A7"/>
                </a:solidFill>
                <a:latin typeface="Calibri"/>
              </a:rPr>
              <a:t>   ·   BCCE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62895" y="6473952"/>
            <a:ext cx="987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6B2A7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D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240">
                <a:solidFill>
                  <a:srgbClr val="9D6473"/>
                </a:solidFill>
                <a:latin typeface="Calibri"/>
              </a:rPr>
              <a:t>THEME 4 OF 4</a:t>
            </a:r>
            <a:r>
              <a:rPr sz="1250" b="1" i="0" spc="160">
                <a:solidFill>
                  <a:srgbClr val="74726A"/>
                </a:solidFill>
                <a:latin typeface="Calibri"/>
              </a:rPr>
              <a:t>   ·   THE STRUCTURAL CONDITIONS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502920"/>
            <a:ext cx="566928" cy="365760"/>
          </a:xfrm>
          <a:prstGeom prst="roundRect">
            <a:avLst>
              <a:gd name="adj" fmla="val 50000"/>
            </a:avLst>
          </a:prstGeom>
          <a:solidFill>
            <a:srgbClr val="9D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97135" y="502920"/>
            <a:ext cx="566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73791" y="502920"/>
            <a:ext cx="566928" cy="365760"/>
          </a:xfrm>
          <a:prstGeom prst="roundRect">
            <a:avLst>
              <a:gd name="adj" fmla="val 50000"/>
            </a:avLst>
          </a:prstGeom>
          <a:solidFill>
            <a:srgbClr val="9D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73791" y="502920"/>
            <a:ext cx="5669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GA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14300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242928"/>
                </a:solidFill>
                <a:latin typeface="Georgia"/>
              </a:rPr>
              <a:t>Structure shapes advising — and the gaps it leaves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242928"/>
                </a:solidFill>
                <a:latin typeface="Georgia"/>
              </a:rPr>
              <a:t>are the program’s to fix, not the student’s.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2697480"/>
            <a:ext cx="10515600" cy="1783080"/>
          </a:xfrm>
          <a:prstGeom prst="roundRect">
            <a:avLst>
              <a:gd name="adj" fmla="val 5000"/>
            </a:avLst>
          </a:prstGeom>
          <a:solidFill>
            <a:srgbClr val="F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2697480"/>
            <a:ext cx="91440" cy="1783080"/>
          </a:xfrm>
          <a:prstGeom prst="rect">
            <a:avLst/>
          </a:prstGeom>
          <a:solidFill>
            <a:srgbClr val="9D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9576" y="2468880"/>
            <a:ext cx="1097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0" b="1" i="0">
                <a:solidFill>
                  <a:srgbClr val="9D6473"/>
                </a:solidFill>
                <a:latin typeface="Georgia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3017520"/>
            <a:ext cx="9125712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242928"/>
                </a:solidFill>
                <a:latin typeface="Georgia"/>
              </a:rPr>
              <a:t>Those professional skills often get kind of forgotten.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1368" y="40690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9D6473"/>
                </a:solidFill>
                <a:latin typeface="Calibri"/>
              </a:rPr>
              <a:t>— P2  ·  on the program’s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7548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9D6473"/>
                </a:solidFill>
                <a:latin typeface="Calibri"/>
              </a:rPr>
              <a:t>WHERE FACULTY DIVIDE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194560" y="5440680"/>
            <a:ext cx="7772400" cy="0"/>
          </a:xfrm>
          <a:prstGeom prst="line">
            <a:avLst/>
          </a:prstGeom>
          <a:ln w="25400">
            <a:solidFill>
              <a:srgbClr val="9D6473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057400" y="5513832"/>
            <a:ext cx="3886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928"/>
                </a:solidFill>
                <a:latin typeface="Calibri"/>
              </a:rPr>
              <a:t>The evolved system works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513832"/>
            <a:ext cx="3886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928"/>
                </a:solidFill>
                <a:latin typeface="Calibri"/>
              </a:rPr>
              <a:t>Curricula &amp; funding need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5916168"/>
            <a:ext cx="7772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74726A"/>
                </a:solidFill>
                <a:latin typeface="Calibri"/>
              </a:rPr>
              <a:t>How much of the structure deserves changing — P14 vs. P18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1248" y="6419088"/>
            <a:ext cx="10509199" cy="0"/>
          </a:xfrm>
          <a:prstGeom prst="line">
            <a:avLst/>
          </a:prstGeom>
          <a:ln w="9525">
            <a:solidFill>
              <a:srgbClr val="E4E0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6B2A7"/>
                </a:solidFill>
                <a:latin typeface="Calibri"/>
              </a:rPr>
              <a:t>Faculty beliefs about doctoral education</a:t>
            </a:r>
            <a:r>
              <a:rPr sz="1000" b="0" i="1">
                <a:solidFill>
                  <a:srgbClr val="B6B2A7"/>
                </a:solidFill>
                <a:latin typeface="Calibri"/>
              </a:rPr>
              <a:t>   ·   BCCE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62895" y="6473952"/>
            <a:ext cx="987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6B2A7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260">
                <a:solidFill>
                  <a:srgbClr val="A9A59A"/>
                </a:solidFill>
                <a:latin typeface="Calibri"/>
              </a:rPr>
              <a:t>THE FULL OUTCOME SPACE</a:t>
            </a:r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60120"/>
            <a:ext cx="4705207" cy="5669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9360" y="1280160"/>
            <a:ext cx="5394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4 shared themes.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15 codes.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1">
                <a:solidFill>
                  <a:srgbClr val="D8D4C9"/>
                </a:solidFill>
                <a:latin typeface="Georgia"/>
              </a:rPr>
              <a:t>An axis of division in every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3931920"/>
            <a:ext cx="5394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9A59A"/>
                </a:solidFill>
                <a:latin typeface="Calibri"/>
              </a:rPr>
              <a:t>Every faculty member lands somewhere on each axis. The agreement is real — and so is the disagreement one level 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580644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E6B63"/>
                </a:solidFill>
                <a:latin typeface="Calibri"/>
              </a:rPr>
              <a:t>Each axis names the two poles of variation; nothing is plotted on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220">
                <a:solidFill>
                  <a:srgbClr val="456A73"/>
                </a:solidFill>
                <a:latin typeface="Calibri"/>
              </a:rPr>
              <a:t>WHAT THIS ADDS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2412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42928"/>
                </a:solidFill>
                <a:latin typeface="Georgia"/>
              </a:rPr>
              <a:t>A belief baseline for changing doctoral education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148840"/>
            <a:ext cx="3401568" cy="3566160"/>
          </a:xfrm>
          <a:prstGeom prst="roundRect">
            <a:avLst>
              <a:gd name="adj" fmla="val 5000"/>
            </a:avLst>
          </a:prstGeom>
          <a:solidFill>
            <a:srgbClr val="F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2148840"/>
            <a:ext cx="3401568" cy="109728"/>
          </a:xfrm>
          <a:prstGeom prst="rect">
            <a:avLst/>
          </a:prstGeom>
          <a:solidFill>
            <a:srgbClr val="456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" y="2532888"/>
            <a:ext cx="28529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56A73"/>
                </a:solidFill>
                <a:latin typeface="Georgia"/>
              </a:rPr>
              <a:t>Content for the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3383280"/>
            <a:ext cx="28346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42928"/>
                </a:solidFill>
                <a:latin typeface="Calibri"/>
              </a:rPr>
              <a:t>Gives the Teacher-Centered Systemic Reform model the doctoral-education content it lacked — the shared ground a reform can assume, and the fault lines it must engage.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9704" y="2148840"/>
            <a:ext cx="3401568" cy="3566160"/>
          </a:xfrm>
          <a:prstGeom prst="roundRect">
            <a:avLst>
              <a:gd name="adj" fmla="val 5000"/>
            </a:avLst>
          </a:prstGeom>
          <a:solidFill>
            <a:srgbClr val="F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9704" y="2148840"/>
            <a:ext cx="3401568" cy="109728"/>
          </a:xfrm>
          <a:prstGeom prst="rect">
            <a:avLst/>
          </a:prstGeom>
          <a:solidFill>
            <a:srgbClr val="A37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82312" y="2532888"/>
            <a:ext cx="28529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A37730"/>
                </a:solidFill>
                <a:latin typeface="Georgia"/>
              </a:rPr>
              <a:t>Nests with prior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82312" y="3383280"/>
            <a:ext cx="28346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42928"/>
                </a:solidFill>
                <a:latin typeface="Calibri"/>
              </a:rPr>
              <a:t>The goals record (what the degree is for) and the challenge record (what goes wrong) now sit beside what faculty believe. Three answers, one enterprise — they nest, not compete.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148840"/>
            <a:ext cx="3401568" cy="3566160"/>
          </a:xfrm>
          <a:prstGeom prst="roundRect">
            <a:avLst>
              <a:gd name="adj" fmla="val 5000"/>
            </a:avLst>
          </a:prstGeom>
          <a:solidFill>
            <a:srgbClr val="F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2148840"/>
            <a:ext cx="3401568" cy="109728"/>
          </a:xfrm>
          <a:prstGeom prst="rect">
            <a:avLst/>
          </a:prstGeom>
          <a:solidFill>
            <a:srgbClr val="5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0768" y="2532888"/>
            <a:ext cx="28529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E7B4F"/>
                </a:solidFill>
                <a:latin typeface="Georgia"/>
              </a:rPr>
              <a:t>Conviction vs. practice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3383280"/>
            <a:ext cx="28346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42928"/>
                </a:solidFill>
                <a:latin typeface="Calibri"/>
              </a:rPr>
              <a:t>13 of 20 describe stable convictions but implementation refined by experience. Supports aimed at implementation may fit faculty experience better than efforts aimed at core beliefs.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1248" y="6419088"/>
            <a:ext cx="10509199" cy="0"/>
          </a:xfrm>
          <a:prstGeom prst="line">
            <a:avLst/>
          </a:prstGeom>
          <a:ln w="9525">
            <a:solidFill>
              <a:srgbClr val="E4E0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6B2A7"/>
                </a:solidFill>
                <a:latin typeface="Calibri"/>
              </a:rPr>
              <a:t>Faculty beliefs about doctoral education</a:t>
            </a:r>
            <a:r>
              <a:rPr sz="1000" b="0" i="1">
                <a:solidFill>
                  <a:srgbClr val="B6B2A7"/>
                </a:solidFill>
                <a:latin typeface="Calibri"/>
              </a:rPr>
              <a:t>   ·   BCCE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2895" y="6473952"/>
            <a:ext cx="987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6B2A7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56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260">
                <a:solidFill>
                  <a:srgbClr val="CFDDE1"/>
                </a:solidFill>
                <a:latin typeface="Calibri"/>
              </a:rPr>
              <a:t>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23444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FFFFF"/>
                </a:solidFill>
                <a:latin typeface="Georgia"/>
              </a:rPr>
              <a:t>Two levels of the finding,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FFFFF"/>
                </a:solidFill>
                <a:latin typeface="Georgia"/>
              </a:rPr>
              <a:t>two lessons for programs.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743200"/>
            <a:ext cx="5074920" cy="2103120"/>
          </a:xfrm>
          <a:prstGeom prst="roundRect">
            <a:avLst>
              <a:gd name="adj" fmla="val 6000"/>
            </a:avLst>
          </a:prstGeom>
          <a:solidFill>
            <a:srgbClr val="3A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9718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100">
                <a:solidFill>
                  <a:srgbClr val="BFD4D9"/>
                </a:solidFill>
                <a:latin typeface="Calibri"/>
              </a:rPr>
              <a:t>Shared propositions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429000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FFFFFF"/>
                </a:solidFill>
                <a:latin typeface="Calibri"/>
              </a:rPr>
              <a:t>Common ground a reform argument can take as given — arguing from where faculty already stand.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743200"/>
            <a:ext cx="50749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29718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100">
                <a:solidFill>
                  <a:srgbClr val="456A73"/>
                </a:solidFill>
                <a:latin typeface="Calibri"/>
              </a:rPr>
              <a:t>Boundary disagreements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3429000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242928"/>
                </a:solidFill>
                <a:latin typeface="Calibri"/>
              </a:rPr>
              <a:t>The harder, more useful target — where colleagues who sound aligned quietly diverge. Surface them, don’t assume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5166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1">
                <a:solidFill>
                  <a:srgbClr val="FFFFFF"/>
                </a:solidFill>
                <a:latin typeface="Georgia"/>
              </a:rPr>
              <a:t>Thank you.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8978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CE6E8"/>
                </a:solidFill>
                <a:latin typeface="Calibri"/>
              </a:rPr>
              <a:t>Zoe Rahimi Pirkoohi &amp; Jordan Harshman  ·  University of Iowa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626364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C1C7"/>
                </a:solidFill>
                <a:latin typeface="Calibri"/>
              </a:rPr>
              <a:t>Supported by NSF CAREER #2142873 &amp; #2602955  ·  Jordan Harshman,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