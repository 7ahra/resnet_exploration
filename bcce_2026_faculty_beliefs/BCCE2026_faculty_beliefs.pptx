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9601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E47"/>
                </a:solidFill>
                <a:latin typeface="Century Gothic"/>
              </a:rPr>
              <a:t>BCCE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015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C2C2C"/>
                </a:solidFill>
                <a:latin typeface="Century Gothic"/>
              </a:rPr>
              <a:t>What chemistry faculty believe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2C2C2C"/>
                </a:solidFill>
                <a:latin typeface="Century Gothic"/>
              </a:rPr>
              <a:t>about doctoral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3794760"/>
            <a:ext cx="1828800" cy="45720"/>
          </a:xfrm>
          <a:prstGeom prst="rect">
            <a:avLst/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1">
                <a:solidFill>
                  <a:srgbClr val="595959"/>
                </a:solidFill>
                <a:latin typeface="Century Gothic"/>
              </a:rPr>
              <a:t>A phenomenographic and thematic characterization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C2C2C"/>
                </a:solidFill>
                <a:latin typeface="Century Gothic"/>
              </a:rPr>
              <a:t>Zoe Rahimi Pirkoohi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68112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95959"/>
                </a:solidFill>
                <a:latin typeface="Century Gothic"/>
              </a:rPr>
              <a:t>Jordan Harshman  ·  University of Iowa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35508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Supported by NSF CAREER #2142873 &amp; #2602955  ·  Jordan Harshman, 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Doctoral education trains the chemists who staff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the discipline — and the enterprise is straining.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200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~2,900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chemistry PhDs each year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514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14600"/>
            <a:ext cx="3200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~196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U.S. doctoral programs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51460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514600"/>
            <a:ext cx="32004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unchanged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the same structure for decades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2C2C"/>
                </a:solidFill>
                <a:latin typeface="Century Gothic"/>
              </a:rPr>
              <a:t>Faculty name four strains: </a:t>
            </a:r>
            <a:r>
              <a:rPr sz="1600" b="0" i="0">
                <a:solidFill>
                  <a:srgbClr val="2C2C2C"/>
                </a:solidFill>
                <a:latin typeface="Century Gothic"/>
              </a:rPr>
              <a:t>balancing competing responsibilities, no standard assessment of outcomes, uneven implementation, and inconsistent, largely untrained mentorship.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Donkor &amp; Harshman, 2023  ·  Collini et al.,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Reform changes the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structures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of the PhD, not what happens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inside — because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beliefs absorb it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without yielding.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97480"/>
            <a:ext cx="30632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2880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A reform arrives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94760" y="3218688"/>
            <a:ext cx="54864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89120" y="2697480"/>
            <a:ext cx="30632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697480"/>
            <a:ext cx="28803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Structures change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79" y="3218688"/>
            <a:ext cx="548641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092440" y="2697480"/>
            <a:ext cx="3410712" cy="105156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697480"/>
            <a:ext cx="3227832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Practice unchanged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4297680"/>
            <a:ext cx="7772400" cy="914400"/>
          </a:xfrm>
          <a:prstGeom prst="roundRect">
            <a:avLst>
              <a:gd name="adj" fmla="val 12000"/>
            </a:avLst>
          </a:prstGeom>
          <a:solidFill>
            <a:srgbClr val="F7E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4297680"/>
            <a:ext cx="75895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C2C2C"/>
                </a:solidFill>
                <a:latin typeface="Century Gothic"/>
              </a:rPr>
              <a:t>Beliefs are self-perpetuating — they can absorb a reform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C2C2C"/>
                </a:solidFill>
                <a:latin typeface="Century Gothic"/>
              </a:rPr>
              <a:t>without yielding to it. So change must start with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Teacher-Centered Systemic Reform · Woodbury &amp; Gess-Newsome, 2002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We know what faculty believe about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teaching a class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No one has characterized what they believe about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advising a PhD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43200"/>
            <a:ext cx="5120640" cy="146304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493775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TEACHING A CLASS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Beliefs well characterized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and they predict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743200"/>
            <a:ext cx="5120640" cy="146304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743200"/>
            <a:ext cx="4937759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ADVISING A PhD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A different practice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never characterized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7548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C2C"/>
                </a:solidFill>
                <a:latin typeface="Century Gothic"/>
              </a:rPr>
              <a:t>The closest prior study set beliefs aside — a proper look </a:t>
            </a:r>
            <a:r>
              <a:rPr sz="1600" b="0" i="1">
                <a:solidFill>
                  <a:srgbClr val="5C6E47"/>
                </a:solidFill>
                <a:latin typeface="Times New Roman"/>
              </a:rPr>
              <a:t>“warranted its own study.”</a:t>
            </a:r>
            <a:r>
              <a:rPr sz="1500" b="1" i="0">
                <a:solidFill>
                  <a:srgbClr val="2C2C2C"/>
                </a:solidFill>
                <a:latin typeface="Century Gothic"/>
              </a:rPr>
              <a:t>  This is that study.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Kagan, 1992  ·  Donkor et al.,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4630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E47"/>
                </a:solidFill>
                <a:latin typeface="Century Gothic"/>
              </a:rPr>
              <a:t>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C2C2C"/>
                </a:solidFill>
                <a:latin typeface="Century Gothic"/>
              </a:rPr>
              <a:t>What do chemistry faculty believe</a:t>
            </a:r>
          </a:p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2C2C2C"/>
                </a:solidFill>
                <a:latin typeface="Century Gothic"/>
              </a:rPr>
              <a:t>about doctoral education?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60520"/>
            <a:ext cx="914400" cy="45720"/>
          </a:xfrm>
          <a:prstGeom prst="rect">
            <a:avLst/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95959"/>
                </a:solidFill>
                <a:latin typeface="Century Gothic"/>
              </a:rPr>
              <a:t>what it’s for   ·   how they learn   ·   who develops which skill   ·   the structure they work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First, what counts as a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belief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? A proposition a person holds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true and acts on — not a fact, and not easily changed.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Propositional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held to be true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81528" y="3310128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27889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7889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Evaluative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guides decisions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79008" y="3310128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27889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7889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Personal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not group consensus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76488" y="3310128"/>
            <a:ext cx="283464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2788920"/>
            <a:ext cx="2377440" cy="105156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788920"/>
            <a:ext cx="2194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Resistant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survives counter-evidence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4251960"/>
            <a:ext cx="2286000" cy="64008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251960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entury Gothic"/>
              </a:rPr>
              <a:t>= a belief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66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Century Gothic"/>
              </a:rPr>
              <a:t>We inferred beliefs from what faculty said and why — a knowledge claim answers to evidence; a belief is held on conviction.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Rokeach, 1968 · Green, 1971 · Nespor, 1987 · Pajares, 1992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We built those beliefs from twenty faculty’s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own words, coded to saturation.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6032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Twenty faculty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U.S. doctoral programs, still advising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56032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032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Interviews + card sort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~60 min, in their own words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2560320"/>
            <a:ext cx="3383280" cy="109728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2560320"/>
            <a:ext cx="3200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Phenomenography +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thematic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251960"/>
            <a:ext cx="1828800" cy="82296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7D9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425196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C2C2C"/>
                </a:solidFill>
                <a:latin typeface="Century Gothic"/>
              </a:rPr>
              <a:t>990  sub-codes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13048" y="4663440"/>
            <a:ext cx="420624" cy="0"/>
          </a:xfrm>
          <a:prstGeom prst="line">
            <a:avLst/>
          </a:prstGeom>
          <a:ln w="22225">
            <a:solidFill>
              <a:srgbClr val="7D92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60" y="4251960"/>
            <a:ext cx="1828800" cy="82296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7D9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425196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C2C2C"/>
                </a:solidFill>
                <a:latin typeface="Century Gothic"/>
              </a:rPr>
              <a:t>15  codes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4663440"/>
            <a:ext cx="420624" cy="0"/>
          </a:xfrm>
          <a:prstGeom prst="line">
            <a:avLst/>
          </a:prstGeom>
          <a:ln w="22225">
            <a:solidFill>
              <a:srgbClr val="7D926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37960" y="4251960"/>
            <a:ext cx="1828800" cy="822960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7D92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251960"/>
            <a:ext cx="1645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C2C2C"/>
                </a:solidFill>
                <a:latin typeface="Century Gothic"/>
              </a:rPr>
              <a:t>4  themes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595959"/>
                </a:solidFill>
                <a:latin typeface="Century Gothic"/>
              </a:rPr>
              <a:t>No new codes appeared after interview 7 — the result held from 10 participants to all 20.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Braun &amp; Clarke, 2006 · Åkerlind, 2005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Here is the finding: faculty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agree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on the propositions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and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divide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on exactly where each boundary falls.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78892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493775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entury Gothic"/>
              </a:rPr>
              <a:t>AGREE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entury Gothic"/>
              </a:rPr>
              <a:t>on four shared propositions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788920"/>
            <a:ext cx="5120640" cy="141732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788920"/>
            <a:ext cx="493775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entury Gothic"/>
              </a:rPr>
              <a:t>DIVIDE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entury Gothic"/>
              </a:rPr>
              <a:t>on where the boundaries 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63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5C6E47"/>
                </a:solidFill>
                <a:latin typeface="Times New Roman"/>
              </a:rPr>
              <a:t>“What differs is not which beliefs faculty hold, but where they draw the lines those beliefs require.”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BELIEF 1  ·  WHAT THE DOCTORATE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The PhD builds a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self-directed scientist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in service of the student’s own goals.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06040"/>
            <a:ext cx="6675120" cy="1417320"/>
          </a:xfrm>
          <a:prstGeom prst="roundRect">
            <a:avLst>
              <a:gd name="adj" fmla="val 8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07208"/>
            <a:ext cx="6126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Times New Roman"/>
              </a:rPr>
              <a:t>“When they start bringing ideas forward without necessarily being prompted.”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entury Gothic"/>
              </a:rPr>
              <a:t>P2 — on what independence looks like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06040"/>
            <a:ext cx="3867912" cy="1417320"/>
          </a:xfrm>
          <a:prstGeom prst="roundRect">
            <a:avLst>
              <a:gd name="adj" fmla="val 12000"/>
            </a:avLst>
          </a:prstGeom>
          <a:solidFill>
            <a:srgbClr val="5C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606040"/>
            <a:ext cx="368503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“It’s not my career.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It’s not my goals.”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— P2, on whose goals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WHERE THEY DIVIDE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4892040"/>
            <a:ext cx="7772400" cy="0"/>
          </a:xfrm>
          <a:prstGeom prst="line">
            <a:avLst/>
          </a:prstGeom>
          <a:ln w="22225">
            <a:solidFill>
              <a:srgbClr val="59595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3120" y="49834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C2C2C"/>
                </a:solidFill>
                <a:latin typeface="Century Gothic"/>
              </a:rPr>
              <a:t>answering existing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983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C2C2C"/>
                </a:solidFill>
                <a:latin typeface="Century Gothic"/>
              </a:rPr>
              <a:t>asking new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entury Gothic"/>
              </a:rPr>
              <a:t>The realistic goal of the degree, versus the higher bar. Independence is the shared claim; its reach is the split.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BELIEF 2  ·  HOW STUDENTS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Students learn by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doing scaffolded research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— but the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same lonely start taught two faculty opposite lessons.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5394960" cy="1828800"/>
          </a:xfrm>
          <a:prstGeom prst="roundRect">
            <a:avLst>
              <a:gd name="adj" fmla="val 8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484632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Times New Roman"/>
              </a:rPr>
              <a:t>“Finding the answers on my own was not the most efficient — but it made me a much better scientist.”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02336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entury Gothic"/>
              </a:rPr>
              <a:t>P13 — credited the struggle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651760"/>
            <a:ext cx="5330952" cy="18288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03720" y="2852928"/>
            <a:ext cx="478231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Times New Roman"/>
              </a:rPr>
              <a:t>“Moving toward independence is really done in stages. Not something I tried to model at all.”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023360"/>
            <a:ext cx="47823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entury Gothic"/>
              </a:rPr>
              <a:t>P7 — drew the opposite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0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2C2C"/>
                </a:solidFill>
                <a:latin typeface="Century Gothic"/>
              </a:rPr>
              <a:t>Both were left alone as students. </a:t>
            </a:r>
            <a:r>
              <a:rPr sz="1400" b="0" i="0">
                <a:solidFill>
                  <a:srgbClr val="2C2C2C"/>
                </a:solidFill>
                <a:latin typeface="Century Gothic"/>
              </a:rPr>
              <a:t>The shared belief is learning-by-doing; the divide is how much unsupported struggle helps.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P5: “I do. We do. You do.”  ·  P12: “Can you teach someone else to do it?”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BELIEF 3  ·  WHO DEVELOPS WHICH SKILL — THE LARGEST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Development is a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shared, two-way job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— yet the same skill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is one advisor’s to teach and another’s for the student to build.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97480"/>
            <a:ext cx="5394960" cy="160020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521208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“Creativity is the faculty’s to teach.”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— P5 · P17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697480"/>
            <a:ext cx="5330952" cy="160020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697480"/>
            <a:ext cx="5148072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“Creativity is the student’s to build.”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entury Gothic"/>
              </a:rPr>
              <a:t>— P9 · P11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Century Gothic"/>
              </a:rPr>
              <a:t>Every advisor draws a line between what they must teach and what the student must build — </a:t>
            </a:r>
            <a:r>
              <a:rPr sz="1400" b="1" i="0">
                <a:solidFill>
                  <a:srgbClr val="2C2C2C"/>
                </a:solidFill>
                <a:latin typeface="Century Gothic"/>
              </a:rPr>
              <a:t>and they draw it in different places.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P6: “I go from the leader to the follower…”  ·  P13: “I cannot teach you to be excited about the science.”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BELIEF 4  ·  THE STRUCTURAL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Structure shapes advising — and the </a:t>
            </a:r>
            <a:r>
              <a:rPr sz="2400" b="0" i="0">
                <a:solidFill>
                  <a:srgbClr val="5C6E47"/>
                </a:solidFill>
                <a:latin typeface="Century Gothic"/>
              </a:rPr>
              <a:t>gaps</a:t>
            </a:r>
            <a:r>
              <a:rPr sz="2400" b="0" i="0">
                <a:solidFill>
                  <a:srgbClr val="2C2C2C"/>
                </a:solidFill>
                <a:latin typeface="Century Gothic"/>
              </a:rPr>
              <a:t> it leaves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are the program’s to fix, not the student’s.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51760"/>
            <a:ext cx="6675120" cy="1371600"/>
          </a:xfrm>
          <a:prstGeom prst="roundRect">
            <a:avLst>
              <a:gd name="adj" fmla="val 8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6126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FFFFFF"/>
                </a:solidFill>
                <a:latin typeface="Times New Roman"/>
              </a:rPr>
              <a:t>“Those professional skills often get kind of forgotten.”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6616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entury Gothic"/>
              </a:rPr>
              <a:t>P2 — on the program’s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51760"/>
            <a:ext cx="3867912" cy="1371600"/>
          </a:xfrm>
          <a:prstGeom prst="roundRect">
            <a:avLst>
              <a:gd name="adj" fmla="val 12000"/>
            </a:avLst>
          </a:prstGeom>
          <a:solidFill>
            <a:srgbClr val="5C6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651760"/>
            <a:ext cx="3685032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Fourteen of twenty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already name the gaps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entury Gothic"/>
              </a:rPr>
              <a:t>and can fix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E47"/>
                </a:solidFill>
                <a:latin typeface="Century Gothic"/>
              </a:rPr>
              <a:t>WHERE THEY DIVIDE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4846320"/>
            <a:ext cx="7772400" cy="0"/>
          </a:xfrm>
          <a:prstGeom prst="line">
            <a:avLst/>
          </a:prstGeom>
          <a:ln w="22225">
            <a:solidFill>
              <a:srgbClr val="59595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03120" y="493776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C2C2C"/>
                </a:solidFill>
                <a:latin typeface="Century Gothic"/>
              </a:rPr>
              <a:t>the evolved system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4937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C2C2C"/>
                </a:solidFill>
                <a:latin typeface="Century Gothic"/>
              </a:rPr>
              <a:t>curricula &amp; funding need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95959"/>
                </a:solidFill>
                <a:latin typeface="Century Gothic"/>
              </a:rPr>
              <a:t>On structure, many faculty are already critics rather than obstacles — they disagree on which gaps are real.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boundary_map_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2960"/>
            <a:ext cx="5000822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96012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C2C2C"/>
                </a:solidFill>
                <a:latin typeface="Century Gothic"/>
              </a:rPr>
              <a:t>Agreement on every theme.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2C2C2C"/>
                </a:solidFill>
                <a:latin typeface="Century Gothic"/>
              </a:rPr>
              <a:t>A </a:t>
            </a:r>
            <a:r>
              <a:rPr sz="2300" b="0" i="0">
                <a:solidFill>
                  <a:srgbClr val="5C6E47"/>
                </a:solidFill>
                <a:latin typeface="Century Gothic"/>
              </a:rPr>
              <a:t>fault line</a:t>
            </a:r>
            <a:r>
              <a:rPr sz="2300" b="0" i="0">
                <a:solidFill>
                  <a:srgbClr val="2C2C2C"/>
                </a:solidFill>
                <a:latin typeface="Century Gothic"/>
              </a:rPr>
              <a:t> under every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2880360"/>
            <a:ext cx="5120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2C2C"/>
                </a:solidFill>
                <a:latin typeface="Century Gothic"/>
              </a:rPr>
              <a:t>Fifteen codes. Fifteen axes of division. </a:t>
            </a:r>
            <a:r>
              <a:rPr sz="1500" b="0" i="0">
                <a:solidFill>
                  <a:srgbClr val="595959"/>
                </a:solidFill>
                <a:latin typeface="Century Gothic"/>
              </a:rPr>
              <a:t>Every faculty member lands somewhere on each — the agreement is real, and so is the disagreement one level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29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This gives reform its real map: shared ground 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C2C2C"/>
                </a:solidFill>
                <a:latin typeface="Century Gothic"/>
              </a:rPr>
              <a:t>build on, and where “aligned” colleagues diverge.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51760"/>
            <a:ext cx="5120640" cy="1417320"/>
          </a:xfrm>
          <a:prstGeom prst="roundRect">
            <a:avLst>
              <a:gd name="adj" fmla="val 12000"/>
            </a:avLst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493775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SHARED PROPOSITIONS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Common ground — argue from where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faculty already 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651760"/>
            <a:ext cx="5120640" cy="1417320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651760"/>
            <a:ext cx="4937759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BOUNDARY DISAGREEMENTS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/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The real work — surface them, don’t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entury Gothic"/>
              </a:rPr>
              <a:t>assume they’re settled.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4343400"/>
            <a:ext cx="7772400" cy="960120"/>
          </a:xfrm>
          <a:prstGeom prst="roundRect">
            <a:avLst>
              <a:gd name="adj" fmla="val 12000"/>
            </a:avLst>
          </a:prstGeom>
          <a:solidFill>
            <a:srgbClr val="F7EE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343400"/>
            <a:ext cx="7589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C2C"/>
                </a:solidFill>
                <a:latin typeface="Century Gothic"/>
              </a:rPr>
              <a:t>And convictions stay stable while practice is refined —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2C2C"/>
                </a:solidFill>
                <a:latin typeface="Century Gothic"/>
              </a:rPr>
              <a:t>so support the implementation, not just the belief.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1908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13 of 20: stable convictions, refined implementation  ·  Popova et al., 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41908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C6E47"/>
                </a:solidFill>
                <a:latin typeface="Century Gothic"/>
              </a:rPr>
              <a:t>IN ONE 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2C2C2C"/>
                </a:solidFill>
                <a:latin typeface="Century Gothic"/>
              </a:rPr>
              <a:t>Four shared convictions about the PhD —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2C2C2C"/>
                </a:solidFill>
                <a:latin typeface="Century Gothic"/>
              </a:rPr>
              <a:t>and the lines faculty quietly draw differently.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45720"/>
          </a:xfrm>
          <a:prstGeom prst="rect">
            <a:avLst/>
          </a:prstGeom>
          <a:solidFill>
            <a:srgbClr val="7D92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2C2C2C"/>
                </a:solidFill>
                <a:latin typeface="Century Gothic"/>
              </a:rPr>
              <a:t>Thank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95959"/>
                </a:solidFill>
                <a:latin typeface="Century Gothic"/>
              </a:rPr>
              <a:t>Zoe Rahimi Pirkoohi  ·  Jordan Harshman  ·  University of Iowa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09360"/>
            <a:ext cx="103601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8983"/>
                </a:solidFill>
                <a:latin typeface="Century Gothic"/>
              </a:rPr>
              <a:t>Supported by NSF CAREER #2142873 &amp; #2602955  ·  Jordan Harshman, 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