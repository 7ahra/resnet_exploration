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9601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774E"/>
                </a:solidFill>
                <a:latin typeface="Century Gothic"/>
              </a:rPr>
              <a:t>BCCE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3601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2C2C2C"/>
                </a:solidFill>
                <a:latin typeface="Century Gothic"/>
              </a:rPr>
              <a:t>What chemistry faculty believe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2C2C2C"/>
                </a:solidFill>
                <a:latin typeface="Century Gothic"/>
              </a:rPr>
              <a:t>about doctoral education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3794760"/>
            <a:ext cx="1828800" cy="45720"/>
          </a:xfrm>
          <a:prstGeom prst="rect">
            <a:avLst/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1">
                <a:solidFill>
                  <a:srgbClr val="595959"/>
                </a:solidFill>
                <a:latin typeface="Century Gothic"/>
              </a:rPr>
              <a:t>A phenomenographic and thematic characterization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C2C2C"/>
                </a:solidFill>
                <a:latin typeface="Century Gothic"/>
              </a:rPr>
              <a:t>Zoe Rahimi Pirkoohi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68112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entury Gothic"/>
              </a:rPr>
              <a:t>Jordan Harshman  ·  University of Iowa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355080"/>
            <a:ext cx="10360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Supported by NSF CAREER #2142873 &amp; #2602955  ·  Jordan Harshman, 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Doctoral education produces the chemists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who staff the discipline.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3383280" cy="137160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468880"/>
            <a:ext cx="3236976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>~2,900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>chemistry PhDs each 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2468880"/>
            <a:ext cx="3383280" cy="137160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6552" y="2468880"/>
            <a:ext cx="3236976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>~196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>U.S. doctoral programs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2468880"/>
            <a:ext cx="3383280" cy="137160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74152" y="2468880"/>
            <a:ext cx="3236976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>decades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>one largely unchanged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97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C2C2C"/>
                </a:solidFill>
                <a:latin typeface="Century Gothic"/>
              </a:rPr>
              <a:t>Yet the same record documents its strains — competing responsibilities, no standard assessment of outcomes, uneven implementation, and inconsistent mentorship.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Donkor &amp; Harshman, 2023  ·  Collini et al.,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Beliefs about advising a PhD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have never been characterized.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743200"/>
            <a:ext cx="5120640" cy="155448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743200"/>
            <a:ext cx="4974336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>Classroom teaching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/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>Beliefs are well characterized —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>and predict what happens in class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743200"/>
            <a:ext cx="5120640" cy="155448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2743200"/>
            <a:ext cx="4974336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>Research advising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/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>A different practice — and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>never characterized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091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C2C2C"/>
                </a:solidFill>
                <a:latin typeface="Century Gothic"/>
              </a:rPr>
              <a:t>Donkor et al. (2024) set faculty beliefs aside — a proper investigation </a:t>
            </a:r>
            <a:r>
              <a:rPr sz="1600" b="0" i="1">
                <a:solidFill>
                  <a:srgbClr val="64774E"/>
                </a:solidFill>
                <a:latin typeface="Times New Roman"/>
              </a:rPr>
              <a:t>“warranted its own study.”</a:t>
            </a:r>
            <a:r>
              <a:rPr sz="1500" b="1" i="0">
                <a:solidFill>
                  <a:srgbClr val="2C2C2C"/>
                </a:solidFill>
                <a:latin typeface="Century Gothic"/>
              </a:rPr>
              <a:t>  This is that study.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Gibbons; Lund &amp; Stains; Popova; Mack &amp; Towns  ·  Kagan, 1992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774E"/>
                </a:solidFill>
                <a:latin typeface="Century Gothic"/>
              </a:rPr>
              <a:t>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015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2C2C2C"/>
                </a:solidFill>
                <a:latin typeface="Century Gothic"/>
              </a:rPr>
              <a:t>What do chemistry faculty believe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2C2C2C"/>
                </a:solidFill>
                <a:latin typeface="Century Gothic"/>
              </a:rPr>
              <a:t>about doctoral education?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4039" y="4480560"/>
            <a:ext cx="2468880" cy="77724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7191" y="4480560"/>
            <a:ext cx="232257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entury Gothic"/>
              </a:rPr>
              <a:t>what it’s for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8951" y="4480560"/>
            <a:ext cx="2468880" cy="77724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72103" y="4480560"/>
            <a:ext cx="232257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entury Gothic"/>
              </a:rPr>
              <a:t>how students learn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3" y="4480560"/>
            <a:ext cx="2468880" cy="77724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7015" y="4480560"/>
            <a:ext cx="232257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entury Gothic"/>
              </a:rPr>
              <a:t>who develops which skill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8775" y="4480560"/>
            <a:ext cx="2468880" cy="77724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1927" y="4480560"/>
            <a:ext cx="232257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entury Gothic"/>
              </a:rPr>
              <a:t>the structure they work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Whether a reform reaches practice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depends on what teachers believe.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606040"/>
            <a:ext cx="2487168" cy="109728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606040"/>
            <a:ext cx="234086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general context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of reform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2606040"/>
            <a:ext cx="2487168" cy="109728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2606040"/>
            <a:ext cx="234086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the teacher’s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personal profile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25896" y="2606040"/>
            <a:ext cx="2487168" cy="109728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9048" y="2606040"/>
            <a:ext cx="234086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structural &amp;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cultural context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95944" y="2606040"/>
            <a:ext cx="2487168" cy="109728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9096" y="2606040"/>
            <a:ext cx="234086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teacher thinking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→ beliefs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77639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Century Gothic"/>
              </a:rPr>
              <a:t>All four shape whether a reform reaches practice — the model’s ultimate test.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4709160"/>
            <a:ext cx="6858000" cy="914400"/>
          </a:xfrm>
          <a:prstGeom prst="roundRect">
            <a:avLst>
              <a:gd name="adj" fmla="val 14000"/>
            </a:avLst>
          </a:prstGeom>
          <a:solidFill>
            <a:srgbClr val="F7E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24912" y="4709160"/>
            <a:ext cx="671169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C2C2C"/>
                </a:solidFill>
                <a:latin typeface="Century Gothic"/>
              </a:rPr>
              <a:t>Beliefs are self-perpetuating — they can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C2C2C"/>
                </a:solidFill>
                <a:latin typeface="Century Gothic"/>
              </a:rPr>
              <a:t>absorb a reform without yielding to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Woodbury &amp; Gess-Newsome, 2002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A belief is a proposition held true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that guides how a person acts.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743200"/>
            <a:ext cx="2286000" cy="105156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74320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Propositional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/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held to be true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90088" y="3268980"/>
            <a:ext cx="256032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264408" y="2743200"/>
            <a:ext cx="2286000" cy="105156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274320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Evaluative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/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guides decisions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68696" y="3268980"/>
            <a:ext cx="256032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843016" y="2743200"/>
            <a:ext cx="2286000" cy="105156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6168" y="274320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Personal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/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not group consensus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47304" y="3268980"/>
            <a:ext cx="256032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21624" y="2743200"/>
            <a:ext cx="2286000" cy="105156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94776" y="274320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Resistant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/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survives counter-evidence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4206240"/>
            <a:ext cx="2286000" cy="64008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10912" y="4206240"/>
            <a:ext cx="21396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entury Gothic"/>
              </a:rPr>
              <a:t>= a belief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Rokeach, 1968 · Green, 1971 · Nespor, 1987 · Pajares, 1992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An interpretive design built to capture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the range of faculty belief.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60320"/>
            <a:ext cx="3383280" cy="105156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560320"/>
            <a:ext cx="323697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Twenty faculty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/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U.S. doctoral programs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2560320"/>
            <a:ext cx="3383280" cy="105156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6552" y="2560320"/>
            <a:ext cx="323697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Interviews + card sort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/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~60-min, semi-structured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2560320"/>
            <a:ext cx="3383280" cy="105156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74152" y="2560320"/>
            <a:ext cx="323697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Phenomenography +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/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thematic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4251960"/>
            <a:ext cx="1828800" cy="868680"/>
          </a:xfrm>
          <a:prstGeom prst="roundRect">
            <a:avLst>
              <a:gd name="adj" fmla="val 14000"/>
            </a:avLst>
          </a:prstGeom>
          <a:noFill/>
          <a:ln w="19050">
            <a:solidFill>
              <a:srgbClr val="7D92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39112" y="4251960"/>
            <a:ext cx="168249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C2C2C"/>
                </a:solidFill>
                <a:latin typeface="Century Gothic"/>
              </a:rPr>
              <a:t>990  sub-codes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13048" y="4686300"/>
            <a:ext cx="420624" cy="0"/>
          </a:xfrm>
          <a:prstGeom prst="line">
            <a:avLst/>
          </a:prstGeom>
          <a:ln w="22225">
            <a:solidFill>
              <a:srgbClr val="7D926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251960" y="4251960"/>
            <a:ext cx="1828800" cy="868680"/>
          </a:xfrm>
          <a:prstGeom prst="roundRect">
            <a:avLst>
              <a:gd name="adj" fmla="val 14000"/>
            </a:avLst>
          </a:prstGeom>
          <a:noFill/>
          <a:ln w="19050">
            <a:solidFill>
              <a:srgbClr val="7D92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4251960"/>
            <a:ext cx="168249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C2C2C"/>
                </a:solidFill>
                <a:latin typeface="Century Gothic"/>
              </a:rPr>
              <a:t>15  codes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9048" y="4686300"/>
            <a:ext cx="420624" cy="0"/>
          </a:xfrm>
          <a:prstGeom prst="line">
            <a:avLst/>
          </a:prstGeom>
          <a:ln w="22225">
            <a:solidFill>
              <a:srgbClr val="7D926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537960" y="4251960"/>
            <a:ext cx="1828800" cy="868680"/>
          </a:xfrm>
          <a:prstGeom prst="roundRect">
            <a:avLst>
              <a:gd name="adj" fmla="val 14000"/>
            </a:avLst>
          </a:prstGeom>
          <a:noFill/>
          <a:ln w="19050">
            <a:solidFill>
              <a:srgbClr val="7D92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4251960"/>
            <a:ext cx="168249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C2C2C"/>
                </a:solidFill>
                <a:latin typeface="Century Gothic"/>
              </a:rPr>
              <a:t>4  themes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492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95959"/>
                </a:solidFill>
                <a:latin typeface="Century Gothic"/>
              </a:rPr>
              <a:t>No new codes appeared after interview 7 — the result held from 10 participants to all 20.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Braun &amp; Clarke, 2006 · Åkerlind, 2005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Recruited for maximum variation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across profile and subfield.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14600"/>
            <a:ext cx="3383280" cy="91440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514600"/>
            <a:ext cx="323697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N = 20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participants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2514600"/>
            <a:ext cx="3383280" cy="91440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6552" y="2514600"/>
            <a:ext cx="323697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13 / 7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men / women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2514600"/>
            <a:ext cx="3383280" cy="91440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74152" y="2514600"/>
            <a:ext cx="323697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13 / 7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White / non-White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49039"/>
            <a:ext cx="3383280" cy="91440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3749039"/>
            <a:ext cx="323697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15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full professors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749039"/>
            <a:ext cx="3383280" cy="91440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3749039"/>
            <a:ext cx="323697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14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at R1 institutions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3749039"/>
            <a:ext cx="3383280" cy="91440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74152" y="3749039"/>
            <a:ext cx="323697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18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entury Gothic"/>
              </a:rPr>
              <a:t>U.S.-trained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C2C2C"/>
                </a:solidFill>
                <a:latin typeface="Century Gothic"/>
              </a:rPr>
              <a:t>Subdisciplines: </a:t>
            </a:r>
            <a:r>
              <a:rPr sz="1300" b="0" i="0">
                <a:solidFill>
                  <a:srgbClr val="595959"/>
                </a:solidFill>
                <a:latin typeface="Century Gothic"/>
              </a:rPr>
              <a:t>Inorganic (5) · Chemistry education (2) · Materials (2) · Physical (2) · Biophysical (2) · Organic (2) · + five singletons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C8983"/>
                </a:solidFill>
                <a:latin typeface="Century Gothic"/>
              </a:rPr>
              <a:t>Analytical generalization and transferability, not population estimates; the sample skews senior and male.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Faculty agree on the propositions —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and divide on where the boundaries fall.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743200"/>
            <a:ext cx="5120640" cy="146304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743200"/>
            <a:ext cx="4974336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entury Gothic"/>
              </a:rPr>
              <a:t>AGREE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entury Gothic"/>
              </a:rPr>
              <a:t>on the four shared propositions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743200"/>
            <a:ext cx="5120640" cy="146304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2743200"/>
            <a:ext cx="4974336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entury Gothic"/>
              </a:rPr>
              <a:t>DIVIDE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entury Gothic"/>
              </a:rPr>
              <a:t>on where the boundaries fall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177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64774E"/>
                </a:solidFill>
                <a:latin typeface="Times New Roman"/>
              </a:rPr>
              <a:t>“What differs is not which beliefs faculty hold, but where they draw the lines those beliefs require.”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74E"/>
                </a:solidFill>
                <a:latin typeface="Century Gothic"/>
              </a:rPr>
              <a:t>THEME 1 / 4    ·    WHAT THE DOCTORATE IS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2C2C2C"/>
                </a:solidFill>
                <a:latin typeface="Century Gothic"/>
              </a:rPr>
              <a:t>The doctorate develops a self-directed scientist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2C2C2C"/>
                </a:solidFill>
                <a:latin typeface="Century Gothic"/>
              </a:rPr>
              <a:t>in service of the student’s own goals.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2C2C2C"/>
                </a:solidFill>
                <a:latin typeface="Times New Roman"/>
              </a:rPr>
              <a:t>When they start bringing ideas forward without necessarily being prompted.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11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entury Gothic"/>
              </a:rPr>
              <a:t>— P2 · on what independence looks like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53895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21991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95144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SG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0087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3239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8006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74E"/>
                </a:solidFill>
                <a:latin typeface="Century Gothic"/>
              </a:rPr>
              <a:t>WHERE THEY DIVIDE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011680" y="5349240"/>
            <a:ext cx="7955280" cy="0"/>
          </a:xfrm>
          <a:prstGeom prst="line">
            <a:avLst/>
          </a:prstGeom>
          <a:ln w="22225">
            <a:solidFill>
              <a:srgbClr val="595959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920240" y="54406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C2C2C"/>
                </a:solidFill>
                <a:latin typeface="Century Gothic"/>
              </a:rPr>
              <a:t>answering existing 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54406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C2C2C"/>
                </a:solidFill>
                <a:latin typeface="Century Gothic"/>
              </a:rPr>
              <a:t>asking new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95959"/>
                </a:solidFill>
                <a:latin typeface="Century Gothic"/>
              </a:rPr>
              <a:t>The realistic goal versus the higher bar for the degree.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74E"/>
                </a:solidFill>
                <a:latin typeface="Century Gothic"/>
              </a:rPr>
              <a:t>THEME 2 / 4    ·    HOW STUDENTS 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2C2C2C"/>
                </a:solidFill>
                <a:latin typeface="Century Gothic"/>
              </a:rPr>
              <a:t>Students learn by doing scaffolded research —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2C2C2C"/>
                </a:solidFill>
                <a:latin typeface="Century Gothic"/>
              </a:rPr>
              <a:t>and learning shows in performance, not grades.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2C2C2C"/>
                </a:solidFill>
                <a:latin typeface="Times New Roman"/>
              </a:rPr>
              <a:t>I do. We do. You do — spread out over X number of years.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11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entury Gothic"/>
              </a:rPr>
              <a:t>— P5 · on how research is learned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53895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21991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95144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006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74E"/>
                </a:solidFill>
                <a:latin typeface="Century Gothic"/>
              </a:rPr>
              <a:t>WHERE THEY DIVIDE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11680" y="5349240"/>
            <a:ext cx="7955280" cy="0"/>
          </a:xfrm>
          <a:prstGeom prst="line">
            <a:avLst/>
          </a:prstGeom>
          <a:ln w="22225">
            <a:solidFill>
              <a:srgbClr val="595959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920240" y="54406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C2C2C"/>
                </a:solidFill>
                <a:latin typeface="Century Gothic"/>
              </a:rPr>
              <a:t>unsupported struggle helps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54406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C2C2C"/>
                </a:solidFill>
                <a:latin typeface="Century Gothic"/>
              </a:rPr>
              <a:t>struggle should be scaffolded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95959"/>
                </a:solidFill>
                <a:latin typeface="Century Gothic"/>
              </a:rPr>
              <a:t>Same formative deprivation, opposite lessons — P13 vs. P7.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74E"/>
                </a:solidFill>
                <a:latin typeface="Century Gothic"/>
              </a:rPr>
              <a:t>THEME 3 / 4    ·    WHO DEVELOPS WHICH SKILL — THE LARGEST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2C2C2C"/>
                </a:solidFill>
                <a:latin typeface="Century Gothic"/>
              </a:rPr>
              <a:t>Development is a shared responsibility in a two-way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2C2C2C"/>
                </a:solidFill>
                <a:latin typeface="Century Gothic"/>
              </a:rPr>
              <a:t>relationship — and who develops which skill varies.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2C2C2C"/>
                </a:solidFill>
                <a:latin typeface="Times New Roman"/>
              </a:rPr>
              <a:t>I go from the leader to the follower, and they start as the follower and end up as the leader.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11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entury Gothic"/>
              </a:rPr>
              <a:t>— P6 · on how responsibility transfers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MB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53895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FA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21991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95144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OE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0087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3239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58183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31335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SD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79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1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MP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8006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74E"/>
                </a:solidFill>
                <a:latin typeface="Century Gothic"/>
              </a:rPr>
              <a:t>WHERE THEY DIVIDE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11680" y="5349240"/>
            <a:ext cx="7955280" cy="0"/>
          </a:xfrm>
          <a:prstGeom prst="line">
            <a:avLst/>
          </a:prstGeom>
          <a:ln w="22225">
            <a:solidFill>
              <a:srgbClr val="595959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920240" y="54406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C2C2C"/>
                </a:solidFill>
                <a:latin typeface="Century Gothic"/>
              </a:rPr>
              <a:t>faculty’s to teach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54406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C2C2C"/>
                </a:solidFill>
                <a:latin typeface="Century Gothic"/>
              </a:rPr>
              <a:t>student’s to 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95959"/>
                </a:solidFill>
                <a:latin typeface="Century Gothic"/>
              </a:rPr>
              <a:t>The same skill — creativity — is one faculty’s to teach (P5, P17), another’s for the student (P9, P11).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74E"/>
                </a:solidFill>
                <a:latin typeface="Century Gothic"/>
              </a:rPr>
              <a:t>THEME 4 / 4    ·    THE STRUCTURAL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2C2C2C"/>
                </a:solidFill>
                <a:latin typeface="Century Gothic"/>
              </a:rPr>
              <a:t>Structure shapes advising — and the gaps it leaves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2C2C2C"/>
                </a:solidFill>
                <a:latin typeface="Century Gothic"/>
              </a:rPr>
              <a:t>are the program’s to fix, not the student’s.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2C2C2C"/>
                </a:solidFill>
                <a:latin typeface="Times New Roman"/>
              </a:rPr>
              <a:t>Those professional skills often get kind of forgotten.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11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entury Gothic"/>
              </a:rPr>
              <a:t>— P2 · on the program’s gap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53895" y="4114800"/>
            <a:ext cx="658368" cy="384048"/>
          </a:xfrm>
          <a:prstGeom prst="roundRect">
            <a:avLst>
              <a:gd name="adj" fmla="val 20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4114800"/>
            <a:ext cx="5120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entury Gothic"/>
              </a:rPr>
              <a:t>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006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74E"/>
                </a:solidFill>
                <a:latin typeface="Century Gothic"/>
              </a:rPr>
              <a:t>WHERE THEY DIVIDE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11680" y="5349240"/>
            <a:ext cx="7955280" cy="0"/>
          </a:xfrm>
          <a:prstGeom prst="line">
            <a:avLst/>
          </a:prstGeom>
          <a:ln w="22225">
            <a:solidFill>
              <a:srgbClr val="595959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4406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C2C2C"/>
                </a:solidFill>
                <a:latin typeface="Century Gothic"/>
              </a:rPr>
              <a:t>the evolved system 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54406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C2C2C"/>
                </a:solidFill>
                <a:latin typeface="Century Gothic"/>
              </a:rPr>
              <a:t>curricula &amp; funding need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95959"/>
                </a:solidFill>
                <a:latin typeface="Century Gothic"/>
              </a:rPr>
              <a:t>How much of the structure deserves changing — P14 vs. P18.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boundary_map_v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777240"/>
            <a:ext cx="5082803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10058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774E"/>
                </a:solidFill>
                <a:latin typeface="Century Gothic"/>
              </a:rPr>
              <a:t>THE FULL OUTCOME 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37960" y="1508760"/>
            <a:ext cx="51206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2C2C2C"/>
                </a:solidFill>
                <a:latin typeface="Century Gothic"/>
              </a:rPr>
              <a:t>Four shared themes.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2C2C2C"/>
                </a:solidFill>
                <a:latin typeface="Century Gothic"/>
              </a:rPr>
              <a:t>Fifteen codes.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64774E"/>
                </a:solidFill>
                <a:latin typeface="Century Gothic"/>
              </a:rPr>
              <a:t>An axis of division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2C2C2C"/>
                </a:solidFill>
                <a:latin typeface="Century Gothic"/>
              </a:rPr>
              <a:t>in every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4297680"/>
            <a:ext cx="5120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entury Gothic"/>
              </a:rPr>
              <a:t>The agreement is real — and so is the disagreement one level down. Every faculty member lands somewhere on each axis.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A belief baseline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for changing doctoral education.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14600"/>
            <a:ext cx="3383280" cy="64008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514600"/>
            <a:ext cx="323697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entury Gothic"/>
              </a:rPr>
              <a:t>Content for the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C2C2C"/>
                </a:solidFill>
                <a:latin typeface="Century Gothic"/>
              </a:rPr>
              <a:t>Gives the Teacher-Centered Systemic Reform model the doctoral-education content it lacked — the shared ground and the fault lines a reform must engage.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514600"/>
            <a:ext cx="3383280" cy="64008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2514600"/>
            <a:ext cx="323697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entury Gothic"/>
              </a:rPr>
              <a:t>Nests with prior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29184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C2C2C"/>
                </a:solidFill>
                <a:latin typeface="Century Gothic"/>
              </a:rPr>
              <a:t>The goals record and the challenge record now sit beside what faculty believe. Three answers to one enterprise — they nest, not compete.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514600"/>
            <a:ext cx="3383280" cy="64008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74152" y="2514600"/>
            <a:ext cx="323697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entury Gothic"/>
              </a:rPr>
              <a:t>Conviction vs. practice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29184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C2C2C"/>
                </a:solidFill>
                <a:latin typeface="Century Gothic"/>
              </a:rPr>
              <a:t>Thirteen of twenty hold stable convictions but refine implementation with experience — so supports aimed at implementation may fit faculty best.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Woodbury &amp; Gess-Newsome, 2002 · Donkor et al.; Collini et 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2C2C2C"/>
                </a:solidFill>
                <a:latin typeface="Century Gothic"/>
              </a:rPr>
              <a:t>Two levels, two lessons.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94560"/>
            <a:ext cx="5120640" cy="1554480"/>
          </a:xfrm>
          <a:prstGeom prst="roundRect">
            <a:avLst>
              <a:gd name="adj" fmla="val 14000"/>
            </a:avLst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194560"/>
            <a:ext cx="4974336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SHARED PROPOSITIONS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/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Common ground a reform can take as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given — arguing from where faculty stand.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194560"/>
            <a:ext cx="5120640" cy="155448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2194560"/>
            <a:ext cx="4974336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BOUNDARY DISAGREEMENTS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/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The harder, more useful target — where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Century Gothic"/>
              </a:rPr>
              <a:t>aligned colleagues quietly diverge.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343400"/>
            <a:ext cx="1463040" cy="45720"/>
          </a:xfrm>
          <a:prstGeom prst="rect">
            <a:avLst/>
          </a:prstGeom>
          <a:solidFill>
            <a:srgbClr val="7D9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52628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2C2C2C"/>
                </a:solidFill>
                <a:latin typeface="Century Gothic"/>
              </a:rPr>
              <a:t>Thank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4406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entury Gothic"/>
              </a:rPr>
              <a:t>Zoe Rahimi Pirkoohi  ·  Jordan Harshman  ·  University of Iowa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85216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C8983"/>
                </a:solidFill>
                <a:latin typeface="Century Gothic"/>
              </a:rPr>
              <a:t>Supported by NSF CAREER #2142873 &amp; #2602955  ·  Jordan Harshman,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